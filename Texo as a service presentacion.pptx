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institucional: Texo as a Service, actualización interna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MVP mostraba datos, no respuestas. Cuatro preguntas de CEO quedaban sin resolver.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plataforma convierte planillas en un veredicto ejecutivo: score grupal, alertas, asistente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grupo pasa de reaccionar al mercado a leerlo antes: mapa del holding, mercado PY, noticias, alertas IA, briefing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Conexión directa a BigQuery, 199 anunciantes, 8 módulos de análisis de mercado en tiempo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capas están operativas y disponibles ahora, sin instalación ni planillas.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Falta completar Capa 3 (Tool X): datos micro de campañas por anunciante. Requiere mapear fuentes antes de construir.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4B5B"/>
        </a:solidFill>
      </p:bgPr>
    </p:bg>
    <p:spTree>
      <p:nvGrpSpPr>
        <p:cNvPr id="1" name=""/>
        <p:cNvGrpSpPr/>
        <p:nvPr/>
      </p:nvGrpSpPr>
      <p:grpSpPr>
        <a:xfrm>
          <a:off x="0" y="0"/>
          <a:ext cx="0" cy="0"/>
          <a:chOff x="0" y="0"/>
          <a:chExt cx="0" cy="0"/>
        </a:xfrm>
      </p:grpSpPr>
      <p:sp>
        <p:nvSpPr>
          <p:cNvPr id="2" name="Shape 0"/>
          <p:cNvSpPr/>
          <p:nvPr/>
        </p:nvSpPr>
        <p:spPr>
          <a:xfrm>
            <a:off x="13906500" y="-1714500"/>
            <a:ext cx="6096000" cy="6096000"/>
          </a:xfrm>
          <a:prstGeom prst="ellipse">
            <a:avLst/>
          </a:prstGeom>
          <a:solidFill>
            <a:srgbClr val="66AC97">
              <a:alpha val="16000"/>
            </a:srgbClr>
          </a:solidFill>
          <a:ln/>
        </p:spPr>
      </p:sp>
      <p:sp>
        <p:nvSpPr>
          <p:cNvPr id="3" name="Shape 1"/>
          <p:cNvSpPr/>
          <p:nvPr/>
        </p:nvSpPr>
        <p:spPr>
          <a:xfrm>
            <a:off x="-1524000" y="5905500"/>
            <a:ext cx="6858000" cy="6858000"/>
          </a:xfrm>
          <a:prstGeom prst="ellipse">
            <a:avLst/>
          </a:prstGeom>
          <a:solidFill>
            <a:srgbClr val="EDC54D">
              <a:alpha val="10000"/>
            </a:srgbClr>
          </a:solidFill>
          <a:ln/>
        </p:spPr>
      </p:sp>
      <p:pic>
        <p:nvPicPr>
          <p:cNvPr id="4" name="Image 0" descr="preencoded.png">    </p:cNvPr>
          <p:cNvPicPr>
            <a:picLocks noChangeAspect="1"/>
          </p:cNvPicPr>
          <p:nvPr/>
        </p:nvPicPr>
        <p:blipFill>
          <a:blip r:embed="rId1"/>
          <a:stretch>
            <a:fillRect/>
          </a:stretch>
        </p:blipFill>
        <p:spPr>
          <a:xfrm>
            <a:off x="914400" y="609600"/>
            <a:ext cx="3725614" cy="838200"/>
          </a:xfrm>
          <a:prstGeom prst="rect">
            <a:avLst/>
          </a:prstGeom>
        </p:spPr>
      </p:pic>
      <p:sp>
        <p:nvSpPr>
          <p:cNvPr id="5" name="Text 2"/>
          <p:cNvSpPr/>
          <p:nvPr/>
        </p:nvSpPr>
        <p:spPr>
          <a:xfrm>
            <a:off x="12313295" y="890588"/>
            <a:ext cx="5566336" cy="31432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FFFFFF">
                    <a:alpha val="60000"/>
                  </a:srgbClr>
                </a:solidFill>
                <a:latin typeface="Arial" pitchFamily="34" charset="0"/>
                <a:ea typeface="Arial" pitchFamily="34" charset="-122"/>
                <a:cs typeface="Arial" pitchFamily="34" charset="-120"/>
              </a:rPr>
              <a:t>PROYECTO INSTITUCIONAL · TEXO 2026</a:t>
            </a:r>
            <a:endParaRPr lang="en-US" sz="1800" dirty="0"/>
          </a:p>
        </p:txBody>
      </p:sp>
      <p:sp>
        <p:nvSpPr>
          <p:cNvPr id="6" name="Text 3"/>
          <p:cNvSpPr/>
          <p:nvPr/>
        </p:nvSpPr>
        <p:spPr>
          <a:xfrm>
            <a:off x="914400" y="3030736"/>
            <a:ext cx="18105120" cy="33337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EDC54D"/>
                </a:solidFill>
                <a:latin typeface="Arial" pitchFamily="34" charset="0"/>
                <a:ea typeface="Arial" pitchFamily="34" charset="-122"/>
                <a:cs typeface="Arial" pitchFamily="34" charset="-120"/>
              </a:rPr>
              <a:t>ACTUALIZACIÓN INTERNA</a:t>
            </a:r>
            <a:endParaRPr lang="en-US" sz="1950" dirty="0"/>
          </a:p>
        </p:txBody>
      </p:sp>
      <p:sp>
        <p:nvSpPr>
          <p:cNvPr id="7" name="Text 4"/>
          <p:cNvSpPr/>
          <p:nvPr/>
        </p:nvSpPr>
        <p:spPr>
          <a:xfrm>
            <a:off x="914400" y="3592711"/>
            <a:ext cx="14716125" cy="2602706"/>
          </a:xfrm>
          <a:prstGeom prst="rect">
            <a:avLst/>
          </a:prstGeom>
          <a:noFill/>
          <a:ln/>
        </p:spPr>
        <p:txBody>
          <a:bodyPr wrap="square" lIns="25400" tIns="25400" rIns="25400" bIns="25400" rtlCol="0" anchor="t">
            <a:normAutofit/>
          </a:bodyPr>
          <a:lstStyle/>
          <a:p>
            <a:pPr algn="l" indent="0" marL="0">
              <a:lnSpc>
                <a:spcPct val="89166"/>
              </a:lnSpc>
              <a:buNone/>
            </a:pPr>
            <a:r>
              <a:rPr lang="en-US" sz="9900" b="1" dirty="0">
                <a:solidFill>
                  <a:srgbClr val="FFFFFF"/>
                </a:solidFill>
                <a:latin typeface="Arial" pitchFamily="34" charset="0"/>
                <a:ea typeface="Arial" pitchFamily="34" charset="-122"/>
                <a:cs typeface="Arial" pitchFamily="34" charset="-120"/>
              </a:rPr>
              <a:t>TEXO AS A SERVICE</a:t>
            </a:r>
            <a:endParaRPr lang="en-US" sz="9900" dirty="0"/>
          </a:p>
        </p:txBody>
      </p:sp>
      <p:sp>
        <p:nvSpPr>
          <p:cNvPr id="8" name="Text 5"/>
          <p:cNvSpPr/>
          <p:nvPr/>
        </p:nvSpPr>
        <p:spPr>
          <a:xfrm>
            <a:off x="914400" y="6538317"/>
            <a:ext cx="12573000" cy="544711"/>
          </a:xfrm>
          <a:prstGeom prst="rect">
            <a:avLst/>
          </a:prstGeom>
          <a:noFill/>
          <a:ln/>
        </p:spPr>
        <p:txBody>
          <a:bodyPr wrap="square" lIns="25400" tIns="25400" rIns="25400" bIns="25400" rtlCol="0" anchor="t">
            <a:normAutofit/>
          </a:bodyPr>
          <a:lstStyle/>
          <a:p>
            <a:pPr algn="l" indent="0" marL="0">
              <a:lnSpc>
                <a:spcPct val="123721"/>
              </a:lnSpc>
              <a:buNone/>
            </a:pPr>
            <a:r>
              <a:rPr lang="en-US" sz="2850" dirty="0">
                <a:solidFill>
                  <a:srgbClr val="FFFFFF">
                    <a:alpha val="85000"/>
                  </a:srgbClr>
                </a:solidFill>
                <a:latin typeface="Arial" pitchFamily="34" charset="0"/>
                <a:ea typeface="Arial" pitchFamily="34" charset="-122"/>
                <a:cs typeface="Arial" pitchFamily="34" charset="-120"/>
              </a:rPr>
              <a:t>Cómo construimos un sistema viable de decisión para el Holding TEXO</a:t>
            </a:r>
            <a:endParaRPr lang="en-US" sz="2850" dirty="0"/>
          </a:p>
        </p:txBody>
      </p:sp>
      <p:sp>
        <p:nvSpPr>
          <p:cNvPr id="9" name="Text 6"/>
          <p:cNvSpPr/>
          <p:nvPr/>
        </p:nvSpPr>
        <p:spPr>
          <a:xfrm>
            <a:off x="10634841" y="8628013"/>
            <a:ext cx="6738759" cy="413296"/>
          </a:xfrm>
          <a:prstGeom prst="rect">
            <a:avLst/>
          </a:prstGeom>
          <a:noFill/>
          <a:ln/>
        </p:spPr>
        <p:txBody>
          <a:bodyPr wrap="square" lIns="25400" tIns="25400" rIns="25400" bIns="25400" rtlCol="0" anchor="t">
            <a:normAutofit/>
          </a:bodyPr>
          <a:lstStyle/>
          <a:p>
            <a:pPr algn="r" indent="0" marL="0">
              <a:lnSpc>
                <a:spcPct val="137143"/>
              </a:lnSpc>
              <a:buNone/>
            </a:pPr>
            <a:r>
              <a:rPr lang="en-US" sz="1800" b="1" dirty="0">
                <a:solidFill>
                  <a:srgbClr val="FFFFFF"/>
                </a:solidFill>
                <a:latin typeface="Arial" pitchFamily="34" charset="0"/>
                <a:ea typeface="Arial" pitchFamily="34" charset="-122"/>
                <a:cs typeface="Arial" pitchFamily="34" charset="-120"/>
              </a:rPr>
              <a:t>Líder del proyecto: </a:t>
            </a:r>
            <a:pPr algn="r" indent="0" marL="0">
              <a:lnSpc>
                <a:spcPct val="137143"/>
              </a:lnSpc>
              <a:buNone/>
            </a:pPr>
            <a:r>
              <a:rPr lang="en-US" sz="1800" dirty="0">
                <a:solidFill>
                  <a:srgbClr val="FFFFFF">
                    <a:alpha val="75000"/>
                  </a:srgbClr>
                </a:solidFill>
                <a:latin typeface="Arial" pitchFamily="34" charset="0"/>
                <a:ea typeface="Arial" pitchFamily="34" charset="-122"/>
                <a:cs typeface="Arial" pitchFamily="34" charset="-120"/>
              </a:rPr>
              <a:t>Alejandro Rolandi</a:t>
            </a:r>
            <a:endParaRPr lang="en-US" sz="1800" dirty="0"/>
          </a:p>
        </p:txBody>
      </p:sp>
      <p:sp>
        <p:nvSpPr>
          <p:cNvPr id="10" name="Text 7"/>
          <p:cNvSpPr/>
          <p:nvPr/>
        </p:nvSpPr>
        <p:spPr>
          <a:xfrm>
            <a:off x="10634841" y="9003209"/>
            <a:ext cx="6738759" cy="413296"/>
          </a:xfrm>
          <a:prstGeom prst="rect">
            <a:avLst/>
          </a:prstGeom>
          <a:noFill/>
          <a:ln/>
        </p:spPr>
        <p:txBody>
          <a:bodyPr wrap="square" lIns="25400" tIns="25400" rIns="25400" bIns="25400" rtlCol="0" anchor="t">
            <a:normAutofit/>
          </a:bodyPr>
          <a:lstStyle/>
          <a:p>
            <a:pPr algn="r" indent="0" marL="0">
              <a:lnSpc>
                <a:spcPct val="137143"/>
              </a:lnSpc>
              <a:buNone/>
            </a:pPr>
            <a:r>
              <a:rPr lang="en-US" sz="1800" b="1" dirty="0">
                <a:solidFill>
                  <a:srgbClr val="FFFFFF"/>
                </a:solidFill>
                <a:latin typeface="Arial" pitchFamily="34" charset="0"/>
                <a:ea typeface="Arial" pitchFamily="34" charset="-122"/>
                <a:cs typeface="Arial" pitchFamily="34" charset="-120"/>
              </a:rPr>
              <a:t>Equipo: </a:t>
            </a:r>
            <a:pPr algn="r" indent="0" marL="0">
              <a:lnSpc>
                <a:spcPct val="137143"/>
              </a:lnSpc>
              <a:buNone/>
            </a:pPr>
            <a:r>
              <a:rPr lang="en-US" sz="1800" dirty="0">
                <a:solidFill>
                  <a:srgbClr val="FFFFFF">
                    <a:alpha val="75000"/>
                  </a:srgbClr>
                </a:solidFill>
                <a:latin typeface="Arial" pitchFamily="34" charset="0"/>
                <a:ea typeface="Arial" pitchFamily="34" charset="-122"/>
                <a:cs typeface="Arial" pitchFamily="34" charset="-120"/>
              </a:rPr>
              <a:t>Danilo Sosa · David Medina</a:t>
            </a:r>
            <a:endParaRPr lang="en-US" sz="1800" dirty="0"/>
          </a:p>
        </p:txBody>
      </p:sp>
      <p:sp>
        <p:nvSpPr>
          <p:cNvPr id="11" name="Text 8"/>
          <p:cNvSpPr/>
          <p:nvPr/>
        </p:nvSpPr>
        <p:spPr>
          <a:xfrm>
            <a:off x="10634841" y="9378404"/>
            <a:ext cx="6738759" cy="413296"/>
          </a:xfrm>
          <a:prstGeom prst="rect">
            <a:avLst/>
          </a:prstGeom>
          <a:noFill/>
          <a:ln/>
        </p:spPr>
        <p:txBody>
          <a:bodyPr wrap="square" lIns="25400" tIns="25400" rIns="25400" bIns="25400" rtlCol="0" anchor="t">
            <a:normAutofit/>
          </a:bodyPr>
          <a:lstStyle/>
          <a:p>
            <a:pPr algn="r" indent="0" marL="0">
              <a:lnSpc>
                <a:spcPct val="137143"/>
              </a:lnSpc>
              <a:buNone/>
            </a:pPr>
            <a:r>
              <a:rPr lang="en-US" sz="1800" b="1" dirty="0">
                <a:solidFill>
                  <a:srgbClr val="FFFFFF"/>
                </a:solidFill>
                <a:latin typeface="Arial" pitchFamily="34" charset="0"/>
                <a:ea typeface="Arial" pitchFamily="34" charset="-122"/>
                <a:cs typeface="Arial" pitchFamily="34" charset="-120"/>
              </a:rPr>
              <a:t>Fase actual: </a:t>
            </a:r>
            <a:pPr algn="r" indent="0" marL="0">
              <a:lnSpc>
                <a:spcPct val="137143"/>
              </a:lnSpc>
              <a:buNone/>
            </a:pPr>
            <a:r>
              <a:rPr lang="en-US" sz="1800" dirty="0">
                <a:solidFill>
                  <a:srgbClr val="FFFFFF">
                    <a:alpha val="75000"/>
                  </a:srgbClr>
                </a:solidFill>
                <a:latin typeface="Arial" pitchFamily="34" charset="0"/>
                <a:ea typeface="Arial" pitchFamily="34" charset="-122"/>
                <a:cs typeface="Arial" pitchFamily="34" charset="-120"/>
              </a:rPr>
              <a:t>De MVP a Plataforma — Expansión de capas en curso</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E"/>
        </a:solidFill>
      </p:bgPr>
    </p:bg>
    <p:spTree>
      <p:nvGrpSpPr>
        <p:cNvPr id="1" name=""/>
        <p:cNvGrpSpPr/>
        <p:nvPr/>
      </p:nvGrpSpPr>
      <p:grpSpPr>
        <a:xfrm>
          <a:off x="0" y="0"/>
          <a:ext cx="0" cy="0"/>
          <a:chOff x="0" y="0"/>
          <a:chExt cx="0" cy="0"/>
        </a:xfrm>
      </p:grpSpPr>
      <p:sp>
        <p:nvSpPr>
          <p:cNvPr id="2" name="Text 0"/>
          <p:cNvSpPr/>
          <p:nvPr/>
        </p:nvSpPr>
        <p:spPr>
          <a:xfrm>
            <a:off x="914400" y="685800"/>
            <a:ext cx="18105120" cy="30480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C0554A"/>
                </a:solidFill>
                <a:latin typeface="Arial" pitchFamily="34" charset="0"/>
                <a:ea typeface="Arial" pitchFamily="34" charset="-122"/>
                <a:cs typeface="Arial" pitchFamily="34" charset="-120"/>
              </a:rPr>
              <a:t>EL PROBLEMA</a:t>
            </a:r>
            <a:endParaRPr lang="en-US" sz="1800" dirty="0"/>
          </a:p>
        </p:txBody>
      </p:sp>
      <p:sp>
        <p:nvSpPr>
          <p:cNvPr id="3" name="Text 1"/>
          <p:cNvSpPr/>
          <p:nvPr/>
        </p:nvSpPr>
        <p:spPr>
          <a:xfrm>
            <a:off x="914400" y="1143000"/>
            <a:ext cx="15716250" cy="708571"/>
          </a:xfrm>
          <a:prstGeom prst="rect">
            <a:avLst/>
          </a:prstGeom>
          <a:noFill/>
          <a:ln/>
        </p:spPr>
        <p:txBody>
          <a:bodyPr wrap="square" lIns="25400" tIns="25400" rIns="25400" bIns="25400" rtlCol="0" anchor="t">
            <a:normAutofit/>
          </a:bodyPr>
          <a:lstStyle/>
          <a:p>
            <a:pPr algn="l" indent="0" marL="0">
              <a:lnSpc>
                <a:spcPct val="95135"/>
              </a:lnSpc>
              <a:buNone/>
            </a:pPr>
            <a:r>
              <a:rPr lang="en-US" sz="4800" b="1" dirty="0">
                <a:solidFill>
                  <a:srgbClr val="2A4B5B"/>
                </a:solidFill>
                <a:latin typeface="Arial" pitchFamily="34" charset="0"/>
                <a:ea typeface="Arial" pitchFamily="34" charset="-122"/>
                <a:cs typeface="Arial" pitchFamily="34" charset="-120"/>
              </a:rPr>
              <a:t>Lo que la versión anterior no podía responder</a:t>
            </a:r>
            <a:endParaRPr lang="en-US" sz="4800" dirty="0"/>
          </a:p>
        </p:txBody>
      </p:sp>
      <p:sp>
        <p:nvSpPr>
          <p:cNvPr id="4" name="Text 2"/>
          <p:cNvSpPr/>
          <p:nvPr/>
        </p:nvSpPr>
        <p:spPr>
          <a:xfrm>
            <a:off x="914400" y="2042071"/>
            <a:ext cx="13620750" cy="43815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2A4B5B">
                    <a:alpha val="75000"/>
                  </a:srgbClr>
                </a:solidFill>
                <a:latin typeface="Arial" pitchFamily="34" charset="0"/>
                <a:ea typeface="Arial" pitchFamily="34" charset="-122"/>
                <a:cs typeface="Arial" pitchFamily="34" charset="-120"/>
              </a:rPr>
              <a:t>El primer MVP mostraba datos. Lo que un CEO necesita son respuestas. Estas cuatro no estaban:</a:t>
            </a:r>
            <a:endParaRPr lang="en-US" sz="2100" dirty="0"/>
          </a:p>
        </p:txBody>
      </p:sp>
      <p:sp>
        <p:nvSpPr>
          <p:cNvPr id="5" name="Shape 3"/>
          <p:cNvSpPr/>
          <p:nvPr/>
        </p:nvSpPr>
        <p:spPr>
          <a:xfrm>
            <a:off x="914400" y="2899321"/>
            <a:ext cx="3914775" cy="5835104"/>
          </a:xfrm>
          <a:prstGeom prst="roundRect">
            <a:avLst>
              <a:gd name="adj" fmla="val 1946"/>
            </a:avLst>
          </a:prstGeom>
          <a:solidFill>
            <a:srgbClr val="FFFFFF"/>
          </a:solidFill>
          <a:ln/>
        </p:spPr>
      </p:sp>
      <p:sp>
        <p:nvSpPr>
          <p:cNvPr id="6" name="Shape 4"/>
          <p:cNvSpPr/>
          <p:nvPr/>
        </p:nvSpPr>
        <p:spPr>
          <a:xfrm>
            <a:off x="914400" y="2899321"/>
            <a:ext cx="3914775" cy="57150"/>
          </a:xfrm>
          <a:prstGeom prst="rect">
            <a:avLst/>
          </a:prstGeom>
          <a:solidFill>
            <a:srgbClr val="66AC97"/>
          </a:solidFill>
          <a:ln/>
        </p:spPr>
      </p:sp>
      <p:sp>
        <p:nvSpPr>
          <p:cNvPr id="7" name="Text 5"/>
          <p:cNvSpPr/>
          <p:nvPr/>
        </p:nvSpPr>
        <p:spPr>
          <a:xfrm>
            <a:off x="1219200" y="3337471"/>
            <a:ext cx="3635693" cy="609600"/>
          </a:xfrm>
          <a:prstGeom prst="rect">
            <a:avLst/>
          </a:prstGeom>
          <a:noFill/>
          <a:ln/>
        </p:spPr>
        <p:txBody>
          <a:bodyPr wrap="square" lIns="25400" tIns="25400" rIns="25400" bIns="25400" rtlCol="0" anchor="t">
            <a:normAutofit/>
          </a:bodyPr>
          <a:lstStyle/>
          <a:p>
            <a:pPr algn="l" indent="0" marL="0">
              <a:buNone/>
            </a:pPr>
            <a:r>
              <a:rPr lang="en-US" sz="3900" dirty="0">
                <a:solidFill>
                  <a:srgbClr val="66AC97"/>
                </a:solidFill>
                <a:latin typeface="Arial" pitchFamily="34" charset="0"/>
                <a:ea typeface="Arial" pitchFamily="34" charset="-122"/>
                <a:cs typeface="Arial" pitchFamily="34" charset="-120"/>
              </a:rPr>
              <a:t>01</a:t>
            </a:r>
            <a:endParaRPr lang="en-US" sz="3900" dirty="0"/>
          </a:p>
        </p:txBody>
      </p:sp>
      <p:sp>
        <p:nvSpPr>
          <p:cNvPr id="8" name="Text 6"/>
          <p:cNvSpPr/>
          <p:nvPr/>
        </p:nvSpPr>
        <p:spPr>
          <a:xfrm>
            <a:off x="1219200" y="4099471"/>
            <a:ext cx="3635693"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2A4B5B"/>
                </a:solidFill>
                <a:latin typeface="Arial" pitchFamily="34" charset="0"/>
                <a:ea typeface="Arial" pitchFamily="34" charset="-122"/>
                <a:cs typeface="Arial" pitchFamily="34" charset="-120"/>
              </a:rPr>
              <a:t>¿Estamos sanos?</a:t>
            </a:r>
            <a:endParaRPr lang="en-US" sz="1950" dirty="0"/>
          </a:p>
        </p:txBody>
      </p:sp>
      <p:sp>
        <p:nvSpPr>
          <p:cNvPr id="9" name="Text 7"/>
          <p:cNvSpPr/>
          <p:nvPr/>
        </p:nvSpPr>
        <p:spPr>
          <a:xfrm>
            <a:off x="1219200" y="4585246"/>
            <a:ext cx="3635693"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2A4B5B">
                    <a:alpha val="70000"/>
                  </a:srgbClr>
                </a:solidFill>
                <a:latin typeface="Arial" pitchFamily="34" charset="0"/>
                <a:ea typeface="Arial" pitchFamily="34" charset="-122"/>
                <a:cs typeface="Arial" pitchFamily="34" charset="-120"/>
              </a:rPr>
              <a:t>¿El grupo gana o pierde dinero?</a:t>
            </a:r>
            <a:endParaRPr lang="en-US" sz="1800" dirty="0"/>
          </a:p>
        </p:txBody>
      </p:sp>
      <p:sp>
        <p:nvSpPr>
          <p:cNvPr id="10" name="Shape 8"/>
          <p:cNvSpPr/>
          <p:nvPr/>
        </p:nvSpPr>
        <p:spPr>
          <a:xfrm>
            <a:off x="5095875" y="2899321"/>
            <a:ext cx="3914775" cy="5835104"/>
          </a:xfrm>
          <a:prstGeom prst="roundRect">
            <a:avLst>
              <a:gd name="adj" fmla="val 1946"/>
            </a:avLst>
          </a:prstGeom>
          <a:solidFill>
            <a:srgbClr val="FFFFFF"/>
          </a:solidFill>
          <a:ln/>
        </p:spPr>
      </p:sp>
      <p:sp>
        <p:nvSpPr>
          <p:cNvPr id="11" name="Shape 9"/>
          <p:cNvSpPr/>
          <p:nvPr/>
        </p:nvSpPr>
        <p:spPr>
          <a:xfrm>
            <a:off x="5095875" y="2899321"/>
            <a:ext cx="3914775" cy="57150"/>
          </a:xfrm>
          <a:prstGeom prst="rect">
            <a:avLst/>
          </a:prstGeom>
          <a:solidFill>
            <a:srgbClr val="EDC54D"/>
          </a:solidFill>
          <a:ln/>
        </p:spPr>
      </p:sp>
      <p:sp>
        <p:nvSpPr>
          <p:cNvPr id="12" name="Text 10"/>
          <p:cNvSpPr/>
          <p:nvPr/>
        </p:nvSpPr>
        <p:spPr>
          <a:xfrm>
            <a:off x="5400675" y="3337471"/>
            <a:ext cx="3635693" cy="609600"/>
          </a:xfrm>
          <a:prstGeom prst="rect">
            <a:avLst/>
          </a:prstGeom>
          <a:noFill/>
          <a:ln/>
        </p:spPr>
        <p:txBody>
          <a:bodyPr wrap="square" lIns="25400" tIns="25400" rIns="25400" bIns="25400" rtlCol="0" anchor="t">
            <a:normAutofit/>
          </a:bodyPr>
          <a:lstStyle/>
          <a:p>
            <a:pPr algn="l" indent="0" marL="0">
              <a:buNone/>
            </a:pPr>
            <a:r>
              <a:rPr lang="en-US" sz="3900" dirty="0">
                <a:solidFill>
                  <a:srgbClr val="EDC54D"/>
                </a:solidFill>
                <a:latin typeface="Arial" pitchFamily="34" charset="0"/>
                <a:ea typeface="Arial" pitchFamily="34" charset="-122"/>
                <a:cs typeface="Arial" pitchFamily="34" charset="-120"/>
              </a:rPr>
              <a:t>02</a:t>
            </a:r>
            <a:endParaRPr lang="en-US" sz="3900" dirty="0"/>
          </a:p>
        </p:txBody>
      </p:sp>
      <p:sp>
        <p:nvSpPr>
          <p:cNvPr id="13" name="Text 11"/>
          <p:cNvSpPr/>
          <p:nvPr/>
        </p:nvSpPr>
        <p:spPr>
          <a:xfrm>
            <a:off x="5400675" y="4099471"/>
            <a:ext cx="3635693"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2A4B5B"/>
                </a:solidFill>
                <a:latin typeface="Arial" pitchFamily="34" charset="0"/>
                <a:ea typeface="Arial" pitchFamily="34" charset="-122"/>
                <a:cs typeface="Arial" pitchFamily="34" charset="-120"/>
              </a:rPr>
              <a:t>¿Dónde está el riesgo?</a:t>
            </a:r>
            <a:endParaRPr lang="en-US" sz="1950" dirty="0"/>
          </a:p>
        </p:txBody>
      </p:sp>
      <p:sp>
        <p:nvSpPr>
          <p:cNvPr id="14" name="Text 12"/>
          <p:cNvSpPr/>
          <p:nvPr/>
        </p:nvSpPr>
        <p:spPr>
          <a:xfrm>
            <a:off x="5400675" y="4585246"/>
            <a:ext cx="3404330" cy="67806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2A4B5B">
                    <a:alpha val="70000"/>
                  </a:srgbClr>
                </a:solidFill>
                <a:latin typeface="Arial" pitchFamily="34" charset="0"/>
                <a:ea typeface="Arial" pitchFamily="34" charset="-122"/>
                <a:cs typeface="Arial" pitchFamily="34" charset="-120"/>
              </a:rPr>
              <a:t>¿Quién depende demasiado de algo?</a:t>
            </a:r>
            <a:endParaRPr lang="en-US" sz="1800" dirty="0"/>
          </a:p>
        </p:txBody>
      </p:sp>
      <p:sp>
        <p:nvSpPr>
          <p:cNvPr id="15" name="Shape 13"/>
          <p:cNvSpPr/>
          <p:nvPr/>
        </p:nvSpPr>
        <p:spPr>
          <a:xfrm>
            <a:off x="9277350" y="2899321"/>
            <a:ext cx="3914775" cy="5835104"/>
          </a:xfrm>
          <a:prstGeom prst="roundRect">
            <a:avLst>
              <a:gd name="adj" fmla="val 1946"/>
            </a:avLst>
          </a:prstGeom>
          <a:solidFill>
            <a:srgbClr val="FFFFFF"/>
          </a:solidFill>
          <a:ln/>
        </p:spPr>
      </p:sp>
      <p:sp>
        <p:nvSpPr>
          <p:cNvPr id="16" name="Shape 14"/>
          <p:cNvSpPr/>
          <p:nvPr/>
        </p:nvSpPr>
        <p:spPr>
          <a:xfrm>
            <a:off x="9277350" y="2899321"/>
            <a:ext cx="3914775" cy="57150"/>
          </a:xfrm>
          <a:prstGeom prst="rect">
            <a:avLst/>
          </a:prstGeom>
          <a:solidFill>
            <a:srgbClr val="C0554A"/>
          </a:solidFill>
          <a:ln/>
        </p:spPr>
      </p:sp>
      <p:sp>
        <p:nvSpPr>
          <p:cNvPr id="17" name="Text 15"/>
          <p:cNvSpPr/>
          <p:nvPr/>
        </p:nvSpPr>
        <p:spPr>
          <a:xfrm>
            <a:off x="9582150" y="3337471"/>
            <a:ext cx="3635693" cy="609600"/>
          </a:xfrm>
          <a:prstGeom prst="rect">
            <a:avLst/>
          </a:prstGeom>
          <a:noFill/>
          <a:ln/>
        </p:spPr>
        <p:txBody>
          <a:bodyPr wrap="square" lIns="25400" tIns="25400" rIns="25400" bIns="25400" rtlCol="0" anchor="t">
            <a:normAutofit/>
          </a:bodyPr>
          <a:lstStyle/>
          <a:p>
            <a:pPr algn="l" indent="0" marL="0">
              <a:buNone/>
            </a:pPr>
            <a:r>
              <a:rPr lang="en-US" sz="3900" dirty="0">
                <a:solidFill>
                  <a:srgbClr val="C0554A"/>
                </a:solidFill>
                <a:latin typeface="Arial" pitchFamily="34" charset="0"/>
                <a:ea typeface="Arial" pitchFamily="34" charset="-122"/>
                <a:cs typeface="Arial" pitchFamily="34" charset="-120"/>
              </a:rPr>
              <a:t>03</a:t>
            </a:r>
            <a:endParaRPr lang="en-US" sz="3900" dirty="0"/>
          </a:p>
        </p:txBody>
      </p:sp>
      <p:sp>
        <p:nvSpPr>
          <p:cNvPr id="18" name="Text 16"/>
          <p:cNvSpPr/>
          <p:nvPr/>
        </p:nvSpPr>
        <p:spPr>
          <a:xfrm>
            <a:off x="9582150" y="4099471"/>
            <a:ext cx="3635693"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2A4B5B"/>
                </a:solidFill>
                <a:latin typeface="Arial" pitchFamily="34" charset="0"/>
                <a:ea typeface="Arial" pitchFamily="34" charset="-122"/>
                <a:cs typeface="Arial" pitchFamily="34" charset="-120"/>
              </a:rPr>
              <a:t>¿Dónde está el potencial?</a:t>
            </a:r>
            <a:endParaRPr lang="en-US" sz="1950" dirty="0"/>
          </a:p>
        </p:txBody>
      </p:sp>
      <p:sp>
        <p:nvSpPr>
          <p:cNvPr id="19" name="Text 17"/>
          <p:cNvSpPr/>
          <p:nvPr/>
        </p:nvSpPr>
        <p:spPr>
          <a:xfrm>
            <a:off x="9582150" y="4585246"/>
            <a:ext cx="3635693"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2A4B5B">
                    <a:alpha val="70000"/>
                  </a:srgbClr>
                </a:solidFill>
                <a:latin typeface="Arial" pitchFamily="34" charset="0"/>
                <a:ea typeface="Arial" pitchFamily="34" charset="-122"/>
                <a:cs typeface="Arial" pitchFamily="34" charset="-120"/>
              </a:rPr>
              <a:t>¿Quién está escalando bien?</a:t>
            </a:r>
            <a:endParaRPr lang="en-US" sz="1800" dirty="0"/>
          </a:p>
        </p:txBody>
      </p:sp>
      <p:sp>
        <p:nvSpPr>
          <p:cNvPr id="20" name="Shape 18"/>
          <p:cNvSpPr/>
          <p:nvPr/>
        </p:nvSpPr>
        <p:spPr>
          <a:xfrm>
            <a:off x="13458825" y="2899321"/>
            <a:ext cx="3914775" cy="5835104"/>
          </a:xfrm>
          <a:prstGeom prst="roundRect">
            <a:avLst>
              <a:gd name="adj" fmla="val 1946"/>
            </a:avLst>
          </a:prstGeom>
          <a:solidFill>
            <a:srgbClr val="FFFFFF"/>
          </a:solidFill>
          <a:ln/>
        </p:spPr>
      </p:sp>
      <p:sp>
        <p:nvSpPr>
          <p:cNvPr id="21" name="Shape 19"/>
          <p:cNvSpPr/>
          <p:nvPr/>
        </p:nvSpPr>
        <p:spPr>
          <a:xfrm>
            <a:off x="13458825" y="2899321"/>
            <a:ext cx="3914775" cy="57150"/>
          </a:xfrm>
          <a:prstGeom prst="rect">
            <a:avLst/>
          </a:prstGeom>
          <a:solidFill>
            <a:srgbClr val="2A4B5B"/>
          </a:solidFill>
          <a:ln/>
        </p:spPr>
      </p:sp>
      <p:sp>
        <p:nvSpPr>
          <p:cNvPr id="22" name="Text 20"/>
          <p:cNvSpPr/>
          <p:nvPr/>
        </p:nvSpPr>
        <p:spPr>
          <a:xfrm>
            <a:off x="13763625" y="3337471"/>
            <a:ext cx="3635693" cy="609600"/>
          </a:xfrm>
          <a:prstGeom prst="rect">
            <a:avLst/>
          </a:prstGeom>
          <a:noFill/>
          <a:ln/>
        </p:spPr>
        <p:txBody>
          <a:bodyPr wrap="square" lIns="25400" tIns="25400" rIns="25400" bIns="25400" rtlCol="0" anchor="t">
            <a:normAutofit/>
          </a:bodyPr>
          <a:lstStyle/>
          <a:p>
            <a:pPr algn="l" indent="0" marL="0">
              <a:buNone/>
            </a:pPr>
            <a:r>
              <a:rPr lang="en-US" sz="3900" dirty="0">
                <a:solidFill>
                  <a:srgbClr val="2A4B5B"/>
                </a:solidFill>
                <a:latin typeface="Arial" pitchFamily="34" charset="0"/>
                <a:ea typeface="Arial" pitchFamily="34" charset="-122"/>
                <a:cs typeface="Arial" pitchFamily="34" charset="-120"/>
              </a:rPr>
              <a:t>04</a:t>
            </a:r>
            <a:endParaRPr lang="en-US" sz="3900" dirty="0"/>
          </a:p>
        </p:txBody>
      </p:sp>
      <p:sp>
        <p:nvSpPr>
          <p:cNvPr id="23" name="Text 21"/>
          <p:cNvSpPr/>
          <p:nvPr/>
        </p:nvSpPr>
        <p:spPr>
          <a:xfrm>
            <a:off x="13763625" y="4099471"/>
            <a:ext cx="3635693"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2A4B5B"/>
                </a:solidFill>
                <a:latin typeface="Arial" pitchFamily="34" charset="0"/>
                <a:ea typeface="Arial" pitchFamily="34" charset="-122"/>
                <a:cs typeface="Arial" pitchFamily="34" charset="-120"/>
              </a:rPr>
              <a:t>¿Dónde intervenir?</a:t>
            </a:r>
            <a:endParaRPr lang="en-US" sz="1950" dirty="0"/>
          </a:p>
        </p:txBody>
      </p:sp>
      <p:sp>
        <p:nvSpPr>
          <p:cNvPr id="24" name="Text 22"/>
          <p:cNvSpPr/>
          <p:nvPr/>
        </p:nvSpPr>
        <p:spPr>
          <a:xfrm>
            <a:off x="13763625" y="4585246"/>
            <a:ext cx="3635693" cy="35808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2A4B5B">
                    <a:alpha val="70000"/>
                  </a:srgbClr>
                </a:solidFill>
                <a:latin typeface="Arial" pitchFamily="34" charset="0"/>
                <a:ea typeface="Arial" pitchFamily="34" charset="-122"/>
                <a:cs typeface="Arial" pitchFamily="34" charset="-120"/>
              </a:rPr>
              <a:t>¿Qué necesita atención hoy?</a:t>
            </a:r>
            <a:endParaRPr lang="en-US" sz="1800" dirty="0"/>
          </a:p>
        </p:txBody>
      </p:sp>
      <p:sp>
        <p:nvSpPr>
          <p:cNvPr id="25" name="Text 23"/>
          <p:cNvSpPr/>
          <p:nvPr/>
        </p:nvSpPr>
        <p:spPr>
          <a:xfrm>
            <a:off x="914400" y="9115425"/>
            <a:ext cx="10791825" cy="676275"/>
          </a:xfrm>
          <a:prstGeom prst="rect">
            <a:avLst/>
          </a:prstGeom>
          <a:noFill/>
          <a:ln/>
        </p:spPr>
        <p:txBody>
          <a:bodyPr wrap="square" lIns="25400" tIns="25400" rIns="25400" bIns="25400" rtlCol="0" anchor="t">
            <a:normAutofit/>
          </a:bodyPr>
          <a:lstStyle/>
          <a:p>
            <a:pPr algn="l" indent="0" marL="0">
              <a:lnSpc>
                <a:spcPct val="126923"/>
              </a:lnSpc>
              <a:buNone/>
            </a:pPr>
            <a:r>
              <a:rPr lang="en-US" sz="1650" dirty="0">
                <a:solidFill>
                  <a:srgbClr val="2A4B5B">
                    <a:alpha val="70000"/>
                  </a:srgbClr>
                </a:solidFill>
                <a:latin typeface="Arial" pitchFamily="34" charset="0"/>
                <a:ea typeface="Arial" pitchFamily="34" charset="-122"/>
                <a:cs typeface="Arial" pitchFamily="34" charset="-120"/>
              </a:rPr>
              <a:t>Los datos existían pero llegaban sin narrativa, sin jerarquía y sin alertas. Era un informe para el contador, no una herramienta para decidir. </a:t>
            </a:r>
            <a:pPr algn="l" indent="0" marL="0">
              <a:lnSpc>
                <a:spcPct val="126923"/>
              </a:lnSpc>
              <a:buNone/>
            </a:pPr>
            <a:r>
              <a:rPr lang="en-US" sz="1650" b="1" dirty="0">
                <a:solidFill>
                  <a:srgbClr val="2A4B5B">
                    <a:alpha val="70000"/>
                  </a:srgbClr>
                </a:solidFill>
                <a:latin typeface="Arial" pitchFamily="34" charset="0"/>
                <a:ea typeface="Arial" pitchFamily="34" charset="-122"/>
                <a:cs typeface="Arial" pitchFamily="34" charset="-120"/>
              </a:rPr>
              <a:t>Hoy esas brechas están cerradas.</a:t>
            </a:r>
            <a:endParaRPr lang="en-US" sz="1650" dirty="0"/>
          </a:p>
        </p:txBody>
      </p:sp>
      <p:sp>
        <p:nvSpPr>
          <p:cNvPr id="26" name="Text 24"/>
          <p:cNvSpPr/>
          <p:nvPr/>
        </p:nvSpPr>
        <p:spPr>
          <a:xfrm>
            <a:off x="14677727" y="9334500"/>
            <a:ext cx="2965460" cy="238125"/>
          </a:xfrm>
          <a:prstGeom prst="rect">
            <a:avLst/>
          </a:prstGeom>
          <a:noFill/>
          <a:ln/>
        </p:spPr>
        <p:txBody>
          <a:bodyPr wrap="square" lIns="25400" tIns="25400" rIns="25400" bIns="25400" rtlCol="0" anchor="t">
            <a:normAutofit/>
          </a:bodyPr>
          <a:lstStyle/>
          <a:p>
            <a:pPr algn="l" indent="0" marL="0">
              <a:buNone/>
            </a:pPr>
            <a:r>
              <a:rPr lang="en-US" sz="1350" b="1" spc="27" kern="0" dirty="0">
                <a:solidFill>
                  <a:srgbClr val="2A4B5B"/>
                </a:solidFill>
                <a:latin typeface="Arial" pitchFamily="34" charset="0"/>
                <a:ea typeface="Arial" pitchFamily="34" charset="-122"/>
                <a:cs typeface="Arial" pitchFamily="34" charset="-120"/>
              </a:rPr>
              <a:t>IMPULSADOS PARA CONECTAR</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10287000"/>
          </a:xfrm>
          <a:prstGeom prst="rect">
            <a:avLst/>
          </a:prstGeom>
          <a:solidFill>
            <a:srgbClr val="66AC97"/>
          </a:solidFill>
          <a:ln/>
        </p:spPr>
      </p:sp>
      <p:sp>
        <p:nvSpPr>
          <p:cNvPr id="3" name="Text 1"/>
          <p:cNvSpPr/>
          <p:nvPr/>
        </p:nvSpPr>
        <p:spPr>
          <a:xfrm>
            <a:off x="342900" y="533400"/>
            <a:ext cx="3017520" cy="285750"/>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FFFFFF">
                    <a:alpha val="85000"/>
                  </a:srgbClr>
                </a:solidFill>
                <a:latin typeface="Arial" pitchFamily="34" charset="0"/>
                <a:ea typeface="Arial" pitchFamily="34" charset="-122"/>
                <a:cs typeface="Arial" pitchFamily="34" charset="-120"/>
              </a:rPr>
              <a:t>CAPA 01</a:t>
            </a:r>
            <a:endParaRPr lang="en-US" sz="1650" dirty="0"/>
          </a:p>
        </p:txBody>
      </p:sp>
      <p:sp>
        <p:nvSpPr>
          <p:cNvPr id="4" name="Text 2"/>
          <p:cNvSpPr/>
          <p:nvPr/>
        </p:nvSpPr>
        <p:spPr>
          <a:xfrm>
            <a:off x="342900" y="933450"/>
            <a:ext cx="3017520" cy="436215"/>
          </a:xfrm>
          <a:prstGeom prst="rect">
            <a:avLst/>
          </a:prstGeom>
          <a:noFill/>
          <a:ln/>
        </p:spPr>
        <p:txBody>
          <a:bodyPr wrap="square" lIns="25400" tIns="25400" rIns="25400" bIns="25400" rtlCol="0" anchor="t">
            <a:normAutofit/>
          </a:bodyPr>
          <a:lstStyle/>
          <a:p>
            <a:pPr algn="l" indent="0" marL="0">
              <a:lnSpc>
                <a:spcPct val="97209"/>
              </a:lnSpc>
              <a:buNone/>
            </a:pPr>
            <a:r>
              <a:rPr lang="en-US" sz="2850" b="1" dirty="0">
                <a:solidFill>
                  <a:srgbClr val="FFFFFF"/>
                </a:solidFill>
                <a:latin typeface="Arial" pitchFamily="34" charset="0"/>
                <a:ea typeface="Arial" pitchFamily="34" charset="-122"/>
                <a:cs typeface="Arial" pitchFamily="34" charset="-120"/>
              </a:rPr>
              <a:t>Salud Financiera</a:t>
            </a:r>
            <a:endParaRPr lang="en-US" sz="2850" dirty="0"/>
          </a:p>
        </p:txBody>
      </p:sp>
      <p:sp>
        <p:nvSpPr>
          <p:cNvPr id="5" name="Text 3"/>
          <p:cNvSpPr/>
          <p:nvPr/>
        </p:nvSpPr>
        <p:spPr>
          <a:xfrm>
            <a:off x="342900" y="1541115"/>
            <a:ext cx="2825496" cy="5715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FFFFFF">
                    <a:alpha val="92000"/>
                  </a:srgbClr>
                </a:solidFill>
                <a:latin typeface="Arial" pitchFamily="34" charset="0"/>
                <a:ea typeface="Arial" pitchFamily="34" charset="-122"/>
                <a:cs typeface="Arial" pitchFamily="34" charset="-120"/>
              </a:rPr>
              <a:t>De la planilla al veredicto ejecutivo.</a:t>
            </a:r>
            <a:endParaRPr lang="en-US" sz="1500" dirty="0"/>
          </a:p>
        </p:txBody>
      </p:sp>
      <p:sp>
        <p:nvSpPr>
          <p:cNvPr id="6" name="Text 4"/>
          <p:cNvSpPr/>
          <p:nvPr/>
        </p:nvSpPr>
        <p:spPr>
          <a:xfrm>
            <a:off x="342900" y="2245965"/>
            <a:ext cx="2825496" cy="766763"/>
          </a:xfrm>
          <a:prstGeom prst="rect">
            <a:avLst/>
          </a:prstGeom>
          <a:noFill/>
          <a:ln/>
        </p:spPr>
        <p:txBody>
          <a:bodyPr wrap="square" lIns="25400" tIns="25400" rIns="25400" bIns="25400" rtlCol="0" anchor="t">
            <a:normAutofit/>
          </a:bodyPr>
          <a:lstStyle/>
          <a:p>
            <a:pPr algn="l" indent="0" marL="0">
              <a:lnSpc>
                <a:spcPct val="127500"/>
              </a:lnSpc>
              <a:buNone/>
            </a:pPr>
            <a:r>
              <a:rPr lang="en-US" sz="1275" dirty="0">
                <a:solidFill>
                  <a:srgbClr val="FFFFFF">
                    <a:alpha val="80000"/>
                  </a:srgbClr>
                </a:solidFill>
                <a:latin typeface="Arial" pitchFamily="34" charset="0"/>
                <a:ea typeface="Arial" pitchFamily="34" charset="-122"/>
                <a:cs typeface="Arial" pitchFamily="34" charset="-120"/>
              </a:rPr>
              <a:t>Ya no hace falta saber leer un Excel para entender si el grupo está bien o mal. La plataforma lo dice sola.</a:t>
            </a:r>
            <a:endParaRPr lang="en-US" sz="1275" dirty="0"/>
          </a:p>
        </p:txBody>
      </p:sp>
      <p:sp>
        <p:nvSpPr>
          <p:cNvPr id="7" name="Text 5"/>
          <p:cNvSpPr/>
          <p:nvPr/>
        </p:nvSpPr>
        <p:spPr>
          <a:xfrm>
            <a:off x="342900" y="9273778"/>
            <a:ext cx="2825496" cy="517922"/>
          </a:xfrm>
          <a:prstGeom prst="rect">
            <a:avLst/>
          </a:prstGeom>
          <a:noFill/>
          <a:ln/>
        </p:spPr>
        <p:txBody>
          <a:bodyPr wrap="square" lIns="25400" tIns="25400" rIns="25400" bIns="25400" rtlCol="0" anchor="t">
            <a:normAutofit/>
          </a:bodyPr>
          <a:lstStyle/>
          <a:p>
            <a:pPr algn="l" indent="0" marL="0">
              <a:lnSpc>
                <a:spcPct val="120000"/>
              </a:lnSpc>
              <a:buNone/>
            </a:pPr>
            <a:r>
              <a:rPr lang="en-US" sz="1350" b="1" dirty="0">
                <a:solidFill>
                  <a:srgbClr val="FFFFFF"/>
                </a:solidFill>
                <a:latin typeface="Arial" pitchFamily="34" charset="0"/>
                <a:ea typeface="Arial" pitchFamily="34" charset="-122"/>
                <a:cs typeface="Arial" pitchFamily="34" charset="-120"/>
              </a:rPr>
              <a:t>El grupo ahora tiene un lugar donde verse a sí mismo.</a:t>
            </a:r>
            <a:endParaRPr lang="en-US" sz="1350" dirty="0"/>
          </a:p>
        </p:txBody>
      </p:sp>
      <p:sp>
        <p:nvSpPr>
          <p:cNvPr id="8" name="Shape 6"/>
          <p:cNvSpPr/>
          <p:nvPr/>
        </p:nvSpPr>
        <p:spPr>
          <a:xfrm>
            <a:off x="3733800" y="2552700"/>
            <a:ext cx="85725" cy="85725"/>
          </a:xfrm>
          <a:prstGeom prst="ellipse">
            <a:avLst/>
          </a:prstGeom>
          <a:solidFill>
            <a:srgbClr val="66AC97"/>
          </a:solidFill>
          <a:ln/>
        </p:spPr>
      </p:sp>
      <p:sp>
        <p:nvSpPr>
          <p:cNvPr id="9" name="Text 7"/>
          <p:cNvSpPr/>
          <p:nvPr/>
        </p:nvSpPr>
        <p:spPr>
          <a:xfrm>
            <a:off x="3971925" y="2466975"/>
            <a:ext cx="3639788" cy="847725"/>
          </a:xfrm>
          <a:prstGeom prst="rect">
            <a:avLst/>
          </a:prstGeom>
          <a:noFill/>
          <a:ln/>
        </p:spPr>
        <p:txBody>
          <a:bodyPr wrap="square" lIns="25400" tIns="25400" rIns="25400" bIns="25400" rtlCol="0" anchor="t">
            <a:normAutofit/>
          </a:bodyPr>
          <a:lstStyle/>
          <a:p>
            <a:pPr algn="l" indent="0" marL="0">
              <a:lnSpc>
                <a:spcPct val="121739"/>
              </a:lnSpc>
              <a:buNone/>
            </a:pPr>
            <a:r>
              <a:rPr lang="en-US" sz="1500" b="1" dirty="0">
                <a:solidFill>
                  <a:srgbClr val="2A4B5B"/>
                </a:solidFill>
                <a:latin typeface="Arial" pitchFamily="34" charset="0"/>
                <a:ea typeface="Arial" pitchFamily="34" charset="-122"/>
                <a:cs typeface="Arial" pitchFamily="34" charset="-120"/>
              </a:rPr>
              <a:t>Score Grupal 0–10 </a:t>
            </a:r>
            <a:pPr algn="l" indent="0" marL="0">
              <a:lnSpc>
                <a:spcPct val="121739"/>
              </a:lnSpc>
              <a:buNone/>
            </a:pPr>
            <a:r>
              <a:rPr lang="en-US" sz="1500" dirty="0">
                <a:solidFill>
                  <a:srgbClr val="2A4B5B"/>
                </a:solidFill>
                <a:latin typeface="Arial" pitchFamily="34" charset="0"/>
                <a:ea typeface="Arial" pitchFamily="34" charset="-122"/>
                <a:cs typeface="Arial" pitchFamily="34" charset="-120"/>
              </a:rPr>
              <a:t>visible al entrar: el estado real del holding en un número, con color.</a:t>
            </a:r>
            <a:endParaRPr lang="en-US" sz="1500" dirty="0"/>
          </a:p>
        </p:txBody>
      </p:sp>
      <p:sp>
        <p:nvSpPr>
          <p:cNvPr id="10" name="Shape 8"/>
          <p:cNvSpPr/>
          <p:nvPr/>
        </p:nvSpPr>
        <p:spPr>
          <a:xfrm>
            <a:off x="3733800" y="3514725"/>
            <a:ext cx="85725" cy="85725"/>
          </a:xfrm>
          <a:prstGeom prst="ellipse">
            <a:avLst/>
          </a:prstGeom>
          <a:solidFill>
            <a:srgbClr val="66AC97"/>
          </a:solidFill>
          <a:ln/>
        </p:spPr>
      </p:sp>
      <p:sp>
        <p:nvSpPr>
          <p:cNvPr id="11" name="Text 9"/>
          <p:cNvSpPr/>
          <p:nvPr/>
        </p:nvSpPr>
        <p:spPr>
          <a:xfrm>
            <a:off x="3971925" y="3429000"/>
            <a:ext cx="3639788" cy="847725"/>
          </a:xfrm>
          <a:prstGeom prst="rect">
            <a:avLst/>
          </a:prstGeom>
          <a:noFill/>
          <a:ln/>
        </p:spPr>
        <p:txBody>
          <a:bodyPr wrap="square" lIns="25400" tIns="25400" rIns="25400" bIns="25400" rtlCol="0" anchor="t">
            <a:normAutofit/>
          </a:bodyPr>
          <a:lstStyle/>
          <a:p>
            <a:pPr algn="l" indent="0" marL="0">
              <a:lnSpc>
                <a:spcPct val="121739"/>
              </a:lnSpc>
              <a:buNone/>
            </a:pPr>
            <a:r>
              <a:rPr lang="en-US" sz="1500" b="1" dirty="0">
                <a:solidFill>
                  <a:srgbClr val="2A4B5B"/>
                </a:solidFill>
                <a:latin typeface="Arial" pitchFamily="34" charset="0"/>
                <a:ea typeface="Arial" pitchFamily="34" charset="-122"/>
                <a:cs typeface="Arial" pitchFamily="34" charset="-120"/>
              </a:rPr>
              <a:t>4 preguntas CEO </a:t>
            </a:r>
            <a:pPr algn="l" indent="0" marL="0">
              <a:lnSpc>
                <a:spcPct val="121739"/>
              </a:lnSpc>
              <a:buNone/>
            </a:pPr>
            <a:r>
              <a:rPr lang="en-US" sz="1500" dirty="0">
                <a:solidFill>
                  <a:srgbClr val="2A4B5B"/>
                </a:solidFill>
                <a:latin typeface="Arial" pitchFamily="34" charset="0"/>
                <a:ea typeface="Arial" pitchFamily="34" charset="-122"/>
                <a:cs typeface="Arial" pitchFamily="34" charset="-120"/>
              </a:rPr>
              <a:t>respondidas automáticamente en el hero, sin que nadie tenga que interpretarlas.</a:t>
            </a:r>
            <a:endParaRPr lang="en-US" sz="1500" dirty="0"/>
          </a:p>
        </p:txBody>
      </p:sp>
      <p:sp>
        <p:nvSpPr>
          <p:cNvPr id="12" name="Shape 10"/>
          <p:cNvSpPr/>
          <p:nvPr/>
        </p:nvSpPr>
        <p:spPr>
          <a:xfrm>
            <a:off x="3733800" y="4476750"/>
            <a:ext cx="85725" cy="85725"/>
          </a:xfrm>
          <a:prstGeom prst="ellipse">
            <a:avLst/>
          </a:prstGeom>
          <a:solidFill>
            <a:srgbClr val="66AC97"/>
          </a:solidFill>
          <a:ln/>
        </p:spPr>
      </p:sp>
      <p:sp>
        <p:nvSpPr>
          <p:cNvPr id="13" name="Text 11"/>
          <p:cNvSpPr/>
          <p:nvPr/>
        </p:nvSpPr>
        <p:spPr>
          <a:xfrm>
            <a:off x="3971925" y="4391025"/>
            <a:ext cx="3639788" cy="1114425"/>
          </a:xfrm>
          <a:prstGeom prst="rect">
            <a:avLst/>
          </a:prstGeom>
          <a:noFill/>
          <a:ln/>
        </p:spPr>
        <p:txBody>
          <a:bodyPr wrap="square" lIns="25400" tIns="25400" rIns="25400" bIns="25400" rtlCol="0" anchor="t">
            <a:normAutofit/>
          </a:bodyPr>
          <a:lstStyle/>
          <a:p>
            <a:pPr algn="l" indent="0" marL="0">
              <a:lnSpc>
                <a:spcPct val="121739"/>
              </a:lnSpc>
              <a:buNone/>
            </a:pPr>
            <a:r>
              <a:rPr lang="en-US" sz="1500" b="1" dirty="0">
                <a:solidFill>
                  <a:srgbClr val="2A4B5B"/>
                </a:solidFill>
                <a:latin typeface="Arial" pitchFamily="34" charset="0"/>
                <a:ea typeface="Arial" pitchFamily="34" charset="-122"/>
                <a:cs typeface="Arial" pitchFamily="34" charset="-120"/>
              </a:rPr>
              <a:t>Alertas automáticas </a:t>
            </a:r>
            <a:pPr algn="l" indent="0" marL="0">
              <a:lnSpc>
                <a:spcPct val="121739"/>
              </a:lnSpc>
              <a:buNone/>
            </a:pPr>
            <a:r>
              <a:rPr lang="en-US" sz="1500" dirty="0">
                <a:solidFill>
                  <a:srgbClr val="2A4B5B"/>
                </a:solidFill>
                <a:latin typeface="Arial" pitchFamily="34" charset="0"/>
                <a:ea typeface="Arial" pitchFamily="34" charset="-122"/>
                <a:cs typeface="Arial" pitchFamily="34" charset="-120"/>
              </a:rPr>
              <a:t>clasificadas por severidad: riesgo fiscal, agencia en pérdida, concentración peligrosa, oportunidad de escala.</a:t>
            </a:r>
            <a:endParaRPr lang="en-US" sz="1500" dirty="0"/>
          </a:p>
        </p:txBody>
      </p:sp>
      <p:sp>
        <p:nvSpPr>
          <p:cNvPr id="14" name="Shape 12"/>
          <p:cNvSpPr/>
          <p:nvPr/>
        </p:nvSpPr>
        <p:spPr>
          <a:xfrm>
            <a:off x="3733800" y="5705475"/>
            <a:ext cx="85725" cy="85725"/>
          </a:xfrm>
          <a:prstGeom prst="ellipse">
            <a:avLst/>
          </a:prstGeom>
          <a:solidFill>
            <a:srgbClr val="66AC97"/>
          </a:solidFill>
          <a:ln/>
        </p:spPr>
      </p:sp>
      <p:sp>
        <p:nvSpPr>
          <p:cNvPr id="15" name="Text 13"/>
          <p:cNvSpPr/>
          <p:nvPr/>
        </p:nvSpPr>
        <p:spPr>
          <a:xfrm>
            <a:off x="3971925" y="5619750"/>
            <a:ext cx="3639788" cy="581025"/>
          </a:xfrm>
          <a:prstGeom prst="rect">
            <a:avLst/>
          </a:prstGeom>
          <a:noFill/>
          <a:ln/>
        </p:spPr>
        <p:txBody>
          <a:bodyPr wrap="square" lIns="25400" tIns="25400" rIns="25400" bIns="25400" rtlCol="0" anchor="t">
            <a:normAutofit/>
          </a:bodyPr>
          <a:lstStyle/>
          <a:p>
            <a:pPr algn="l" indent="0" marL="0">
              <a:lnSpc>
                <a:spcPct val="121739"/>
              </a:lnSpc>
              <a:buNone/>
            </a:pPr>
            <a:r>
              <a:rPr lang="en-US" sz="1500" b="1" dirty="0">
                <a:solidFill>
                  <a:srgbClr val="2A4B5B"/>
                </a:solidFill>
                <a:latin typeface="Arial" pitchFamily="34" charset="0"/>
                <a:ea typeface="Arial" pitchFamily="34" charset="-122"/>
                <a:cs typeface="Arial" pitchFamily="34" charset="-120"/>
              </a:rPr>
              <a:t>Narrativa ejecutiva </a:t>
            </a:r>
            <a:pPr algn="l" indent="0" marL="0">
              <a:lnSpc>
                <a:spcPct val="121739"/>
              </a:lnSpc>
              <a:buNone/>
            </a:pPr>
            <a:r>
              <a:rPr lang="en-US" sz="1500" dirty="0">
                <a:solidFill>
                  <a:srgbClr val="2A4B5B"/>
                </a:solidFill>
                <a:latin typeface="Arial" pitchFamily="34" charset="0"/>
                <a:ea typeface="Arial" pitchFamily="34" charset="-122"/>
                <a:cs typeface="Arial" pitchFamily="34" charset="-120"/>
              </a:rPr>
              <a:t>por sección: cada gráfico tiene contexto, no solo números.</a:t>
            </a:r>
            <a:endParaRPr lang="en-US" sz="1500" dirty="0"/>
          </a:p>
        </p:txBody>
      </p:sp>
      <p:sp>
        <p:nvSpPr>
          <p:cNvPr id="16" name="Shape 14"/>
          <p:cNvSpPr/>
          <p:nvPr/>
        </p:nvSpPr>
        <p:spPr>
          <a:xfrm>
            <a:off x="3733800" y="6400800"/>
            <a:ext cx="85725" cy="85725"/>
          </a:xfrm>
          <a:prstGeom prst="ellipse">
            <a:avLst/>
          </a:prstGeom>
          <a:solidFill>
            <a:srgbClr val="66AC97"/>
          </a:solidFill>
          <a:ln/>
        </p:spPr>
      </p:sp>
      <p:sp>
        <p:nvSpPr>
          <p:cNvPr id="17" name="Text 15"/>
          <p:cNvSpPr/>
          <p:nvPr/>
        </p:nvSpPr>
        <p:spPr>
          <a:xfrm>
            <a:off x="3971925" y="6315075"/>
            <a:ext cx="3639788" cy="581025"/>
          </a:xfrm>
          <a:prstGeom prst="rect">
            <a:avLst/>
          </a:prstGeom>
          <a:noFill/>
          <a:ln/>
        </p:spPr>
        <p:txBody>
          <a:bodyPr wrap="square" lIns="25400" tIns="25400" rIns="25400" bIns="25400" rtlCol="0" anchor="t">
            <a:normAutofit/>
          </a:bodyPr>
          <a:lstStyle/>
          <a:p>
            <a:pPr algn="l" indent="0" marL="0">
              <a:lnSpc>
                <a:spcPct val="121739"/>
              </a:lnSpc>
              <a:buNone/>
            </a:pPr>
            <a:r>
              <a:rPr lang="en-US" sz="1500" b="1" dirty="0">
                <a:solidFill>
                  <a:srgbClr val="2A4B5B"/>
                </a:solidFill>
                <a:latin typeface="Arial" pitchFamily="34" charset="0"/>
                <a:ea typeface="Arial" pitchFamily="34" charset="-122"/>
                <a:cs typeface="Arial" pitchFamily="34" charset="-120"/>
              </a:rPr>
              <a:t>Estado claro por agencia: </a:t>
            </a:r>
            <a:pPr algn="l" indent="0" marL="0">
              <a:lnSpc>
                <a:spcPct val="121739"/>
              </a:lnSpc>
              <a:buNone/>
            </a:pPr>
            <a:r>
              <a:rPr lang="en-US" sz="1500" dirty="0">
                <a:solidFill>
                  <a:srgbClr val="2A4B5B"/>
                </a:solidFill>
                <a:latin typeface="Arial" pitchFamily="34" charset="0"/>
                <a:ea typeface="Arial" pitchFamily="34" charset="-122"/>
                <a:cs typeface="Arial" pitchFamily="34" charset="-120"/>
              </a:rPr>
              <a:t>SANA · DEP. 3709 · BAJO MARGEN · INTERVENIR.</a:t>
            </a:r>
            <a:endParaRPr lang="en-US" sz="1500" dirty="0"/>
          </a:p>
        </p:txBody>
      </p:sp>
      <p:sp>
        <p:nvSpPr>
          <p:cNvPr id="18" name="Shape 16"/>
          <p:cNvSpPr/>
          <p:nvPr/>
        </p:nvSpPr>
        <p:spPr>
          <a:xfrm>
            <a:off x="3733800" y="7096125"/>
            <a:ext cx="85725" cy="85725"/>
          </a:xfrm>
          <a:prstGeom prst="ellipse">
            <a:avLst/>
          </a:prstGeom>
          <a:solidFill>
            <a:srgbClr val="66AC97"/>
          </a:solidFill>
          <a:ln/>
        </p:spPr>
      </p:sp>
      <p:sp>
        <p:nvSpPr>
          <p:cNvPr id="19" name="Text 17"/>
          <p:cNvSpPr/>
          <p:nvPr/>
        </p:nvSpPr>
        <p:spPr>
          <a:xfrm>
            <a:off x="3971925" y="7010400"/>
            <a:ext cx="3639788" cy="847725"/>
          </a:xfrm>
          <a:prstGeom prst="rect">
            <a:avLst/>
          </a:prstGeom>
          <a:noFill/>
          <a:ln/>
        </p:spPr>
        <p:txBody>
          <a:bodyPr wrap="square" lIns="25400" tIns="25400" rIns="25400" bIns="25400" rtlCol="0" anchor="t">
            <a:normAutofit/>
          </a:bodyPr>
          <a:lstStyle/>
          <a:p>
            <a:pPr algn="l" indent="0" marL="0">
              <a:lnSpc>
                <a:spcPct val="121739"/>
              </a:lnSpc>
              <a:buNone/>
            </a:pPr>
            <a:r>
              <a:rPr lang="en-US" sz="1500" b="1" dirty="0">
                <a:solidFill>
                  <a:srgbClr val="2A4B5B"/>
                </a:solidFill>
                <a:latin typeface="Arial" pitchFamily="34" charset="0"/>
                <a:ea typeface="Arial" pitchFamily="34" charset="-122"/>
                <a:cs typeface="Arial" pitchFamily="34" charset="-120"/>
              </a:rPr>
              <a:t>Asistente IA integrado: </a:t>
            </a:r>
            <a:pPr algn="l" indent="0" marL="0">
              <a:lnSpc>
                <a:spcPct val="121739"/>
              </a:lnSpc>
              <a:buNone/>
            </a:pPr>
            <a:r>
              <a:rPr lang="en-US" sz="1500" dirty="0">
                <a:solidFill>
                  <a:srgbClr val="2A4B5B"/>
                </a:solidFill>
                <a:latin typeface="Arial" pitchFamily="34" charset="0"/>
                <a:ea typeface="Arial" pitchFamily="34" charset="-122"/>
                <a:cs typeface="Arial" pitchFamily="34" charset="-120"/>
              </a:rPr>
              <a:t>respondé cualquier pregunta sobre los datos en lenguaje natural.</a:t>
            </a:r>
            <a:endParaRPr lang="en-US" sz="1500" dirty="0"/>
          </a:p>
        </p:txBody>
      </p:sp>
      <p:sp>
        <p:nvSpPr>
          <p:cNvPr id="20" name="Shape 18"/>
          <p:cNvSpPr/>
          <p:nvPr/>
        </p:nvSpPr>
        <p:spPr>
          <a:xfrm>
            <a:off x="7810500" y="1514475"/>
            <a:ext cx="9944100" cy="4076700"/>
          </a:xfrm>
          <a:prstGeom prst="roundRect">
            <a:avLst>
              <a:gd name="adj" fmla="val 2804"/>
            </a:avLst>
          </a:prstGeom>
          <a:solidFill>
            <a:srgbClr val="0E1420"/>
          </a:solidFill>
          <a:ln/>
          <a:effectLst>
            <a:outerShdw sx="100000" sy="100000" kx="0" ky="0" algn="bl" rotWithShape="0" blurRad="476250" dist="190500" dir="5400000">
              <a:srgbClr val="2A4B5B">
                <a:alpha val="20000"/>
              </a:srgbClr>
            </a:outerShdw>
          </a:effectLst>
        </p:spPr>
      </p:sp>
      <p:sp>
        <p:nvSpPr>
          <p:cNvPr id="21" name="Shape 19"/>
          <p:cNvSpPr/>
          <p:nvPr/>
        </p:nvSpPr>
        <p:spPr>
          <a:xfrm>
            <a:off x="7810500" y="1514475"/>
            <a:ext cx="9944100" cy="266700"/>
          </a:xfrm>
          <a:prstGeom prst="rect">
            <a:avLst/>
          </a:prstGeom>
          <a:solidFill>
            <a:srgbClr val="1A2233"/>
          </a:solidFill>
          <a:ln/>
        </p:spPr>
      </p:sp>
      <p:sp>
        <p:nvSpPr>
          <p:cNvPr id="22" name="Shape 20"/>
          <p:cNvSpPr/>
          <p:nvPr/>
        </p:nvSpPr>
        <p:spPr>
          <a:xfrm>
            <a:off x="7943850" y="1604963"/>
            <a:ext cx="85725" cy="85725"/>
          </a:xfrm>
          <a:prstGeom prst="ellipse">
            <a:avLst/>
          </a:prstGeom>
          <a:solidFill>
            <a:srgbClr val="C0554A"/>
          </a:solidFill>
          <a:ln/>
        </p:spPr>
      </p:sp>
      <p:sp>
        <p:nvSpPr>
          <p:cNvPr id="23" name="Shape 21"/>
          <p:cNvSpPr/>
          <p:nvPr/>
        </p:nvSpPr>
        <p:spPr>
          <a:xfrm>
            <a:off x="8105775" y="1604963"/>
            <a:ext cx="85725" cy="85725"/>
          </a:xfrm>
          <a:prstGeom prst="ellipse">
            <a:avLst/>
          </a:prstGeom>
          <a:solidFill>
            <a:srgbClr val="EDC54D"/>
          </a:solidFill>
          <a:ln/>
        </p:spPr>
      </p:sp>
      <p:sp>
        <p:nvSpPr>
          <p:cNvPr id="24" name="Shape 22"/>
          <p:cNvSpPr/>
          <p:nvPr/>
        </p:nvSpPr>
        <p:spPr>
          <a:xfrm>
            <a:off x="8267700" y="1604963"/>
            <a:ext cx="85725" cy="85725"/>
          </a:xfrm>
          <a:prstGeom prst="ellipse">
            <a:avLst/>
          </a:prstGeom>
          <a:solidFill>
            <a:srgbClr val="66AC97"/>
          </a:solidFill>
          <a:ln/>
        </p:spPr>
      </p:sp>
      <p:sp>
        <p:nvSpPr>
          <p:cNvPr id="25" name="Shape 23"/>
          <p:cNvSpPr/>
          <p:nvPr/>
        </p:nvSpPr>
        <p:spPr>
          <a:xfrm>
            <a:off x="7810500" y="1781175"/>
            <a:ext cx="9944100" cy="3810000"/>
          </a:xfrm>
          <a:prstGeom prst="rect">
            <a:avLst/>
          </a:prstGeom>
          <a:solidFill>
            <a:srgbClr val="000000">
              <a:alpha val="4000"/>
            </a:srgbClr>
          </a:solidFill>
          <a:ln/>
        </p:spPr>
      </p:sp>
      <p:pic>
        <p:nvPicPr>
          <p:cNvPr id="26" name="Image 0" descr="preencoded.png">    </p:cNvPr>
          <p:cNvPicPr>
            <a:picLocks noChangeAspect="1"/>
          </p:cNvPicPr>
          <p:nvPr/>
        </p:nvPicPr>
        <p:blipFill>
          <a:blip r:embed="rId1"/>
          <a:srcRect l="-8365" r="-8365" t="0" b="0"/>
          <a:stretch/>
        </p:blipFill>
        <p:spPr>
          <a:xfrm>
            <a:off x="7810500" y="1781175"/>
            <a:ext cx="9944100" cy="3810000"/>
          </a:xfrm>
          <a:prstGeom prst="rect">
            <a:avLst/>
          </a:prstGeom>
        </p:spPr>
      </p:pic>
      <p:sp>
        <p:nvSpPr>
          <p:cNvPr id="27" name="Shape 24"/>
          <p:cNvSpPr/>
          <p:nvPr/>
        </p:nvSpPr>
        <p:spPr>
          <a:xfrm>
            <a:off x="7810500" y="5743575"/>
            <a:ext cx="9944100" cy="3028950"/>
          </a:xfrm>
          <a:prstGeom prst="roundRect">
            <a:avLst>
              <a:gd name="adj" fmla="val 3774"/>
            </a:avLst>
          </a:prstGeom>
          <a:solidFill>
            <a:srgbClr val="F4F2EE"/>
          </a:solidFill>
          <a:ln/>
          <a:effectLst>
            <a:outerShdw sx="100000" sy="100000" kx="0" ky="0" algn="bl" rotWithShape="0" blurRad="476250" dist="190500" dir="5400000">
              <a:srgbClr val="2A4B5B">
                <a:alpha val="16000"/>
              </a:srgbClr>
            </a:outerShdw>
          </a:effectLst>
        </p:spPr>
      </p:sp>
      <p:sp>
        <p:nvSpPr>
          <p:cNvPr id="28" name="Shape 25"/>
          <p:cNvSpPr/>
          <p:nvPr/>
        </p:nvSpPr>
        <p:spPr>
          <a:xfrm>
            <a:off x="7810500" y="5743575"/>
            <a:ext cx="9944100" cy="266700"/>
          </a:xfrm>
          <a:prstGeom prst="rect">
            <a:avLst/>
          </a:prstGeom>
          <a:solidFill>
            <a:srgbClr val="E3DDD2"/>
          </a:solidFill>
          <a:ln/>
        </p:spPr>
      </p:sp>
      <p:sp>
        <p:nvSpPr>
          <p:cNvPr id="29" name="Shape 26"/>
          <p:cNvSpPr/>
          <p:nvPr/>
        </p:nvSpPr>
        <p:spPr>
          <a:xfrm>
            <a:off x="7943850" y="5834063"/>
            <a:ext cx="85725" cy="85725"/>
          </a:xfrm>
          <a:prstGeom prst="ellipse">
            <a:avLst/>
          </a:prstGeom>
          <a:solidFill>
            <a:srgbClr val="C0554A"/>
          </a:solidFill>
          <a:ln/>
        </p:spPr>
      </p:sp>
      <p:sp>
        <p:nvSpPr>
          <p:cNvPr id="30" name="Shape 27"/>
          <p:cNvSpPr/>
          <p:nvPr/>
        </p:nvSpPr>
        <p:spPr>
          <a:xfrm>
            <a:off x="8105775" y="5834063"/>
            <a:ext cx="85725" cy="85725"/>
          </a:xfrm>
          <a:prstGeom prst="ellipse">
            <a:avLst/>
          </a:prstGeom>
          <a:solidFill>
            <a:srgbClr val="EDC54D"/>
          </a:solidFill>
          <a:ln/>
        </p:spPr>
      </p:sp>
      <p:sp>
        <p:nvSpPr>
          <p:cNvPr id="31" name="Shape 28"/>
          <p:cNvSpPr/>
          <p:nvPr/>
        </p:nvSpPr>
        <p:spPr>
          <a:xfrm>
            <a:off x="8267700" y="5834063"/>
            <a:ext cx="85725" cy="85725"/>
          </a:xfrm>
          <a:prstGeom prst="ellipse">
            <a:avLst/>
          </a:prstGeom>
          <a:solidFill>
            <a:srgbClr val="66AC97"/>
          </a:solidFill>
          <a:ln/>
        </p:spPr>
      </p:sp>
      <p:sp>
        <p:nvSpPr>
          <p:cNvPr id="32" name="Shape 29"/>
          <p:cNvSpPr/>
          <p:nvPr/>
        </p:nvSpPr>
        <p:spPr>
          <a:xfrm>
            <a:off x="7810500" y="6010275"/>
            <a:ext cx="9944100" cy="2762250"/>
          </a:xfrm>
          <a:prstGeom prst="rect">
            <a:avLst/>
          </a:prstGeom>
          <a:solidFill>
            <a:srgbClr val="000000">
              <a:alpha val="4000"/>
            </a:srgbClr>
          </a:solidFill>
          <a:ln/>
        </p:spPr>
      </p:sp>
      <p:pic>
        <p:nvPicPr>
          <p:cNvPr id="33" name="Image 1" descr="preencoded.png">    </p:cNvPr>
          <p:cNvPicPr>
            <a:picLocks noChangeAspect="1"/>
          </p:cNvPicPr>
          <p:nvPr/>
        </p:nvPicPr>
        <p:blipFill>
          <a:blip r:embed="rId2"/>
          <a:srcRect l="-6389" r="-6389" t="0" b="0"/>
          <a:stretch/>
        </p:blipFill>
        <p:spPr>
          <a:xfrm>
            <a:off x="7810500" y="6010275"/>
            <a:ext cx="9944100" cy="2762250"/>
          </a:xfrm>
          <a:prstGeom prst="rect">
            <a:avLst/>
          </a:prstGeom>
        </p:spPr>
      </p:pic>
      <p:sp>
        <p:nvSpPr>
          <p:cNvPr id="34" name="Text 30"/>
          <p:cNvSpPr/>
          <p:nvPr/>
        </p:nvSpPr>
        <p:spPr>
          <a:xfrm>
            <a:off x="14982527" y="9782175"/>
            <a:ext cx="2965460" cy="228600"/>
          </a:xfrm>
          <a:prstGeom prst="rect">
            <a:avLst/>
          </a:prstGeom>
          <a:noFill/>
          <a:ln/>
        </p:spPr>
        <p:txBody>
          <a:bodyPr wrap="square" lIns="25400" tIns="25400" rIns="25400" bIns="25400" rtlCol="0" anchor="t">
            <a:normAutofit/>
          </a:bodyPr>
          <a:lstStyle/>
          <a:p>
            <a:pPr algn="l" indent="0" marL="0">
              <a:buNone/>
            </a:pPr>
            <a:r>
              <a:rPr lang="en-US" sz="1350" b="1" spc="27" kern="0" dirty="0">
                <a:solidFill>
                  <a:srgbClr val="2A4B5B">
                    <a:alpha val="60000"/>
                  </a:srgbClr>
                </a:solidFill>
                <a:latin typeface="Arial" pitchFamily="34" charset="0"/>
                <a:ea typeface="Arial" pitchFamily="34" charset="-122"/>
                <a:cs typeface="Arial" pitchFamily="34" charset="-120"/>
              </a:rPr>
              <a:t>IMPULSADOS PARA CONECTAR</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429000" cy="10287000"/>
          </a:xfrm>
          <a:prstGeom prst="rect">
            <a:avLst/>
          </a:prstGeom>
          <a:solidFill>
            <a:srgbClr val="EDC54D"/>
          </a:solidFill>
          <a:ln/>
        </p:spPr>
      </p:sp>
      <p:sp>
        <p:nvSpPr>
          <p:cNvPr id="3" name="Text 1"/>
          <p:cNvSpPr/>
          <p:nvPr/>
        </p:nvSpPr>
        <p:spPr>
          <a:xfrm>
            <a:off x="342900" y="533400"/>
            <a:ext cx="3017520" cy="285750"/>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2A4B5B">
                    <a:alpha val="85000"/>
                  </a:srgbClr>
                </a:solidFill>
                <a:latin typeface="Arial" pitchFamily="34" charset="0"/>
                <a:ea typeface="Arial" pitchFamily="34" charset="-122"/>
                <a:cs typeface="Arial" pitchFamily="34" charset="-120"/>
              </a:rPr>
              <a:t>CAPA 02</a:t>
            </a:r>
            <a:endParaRPr lang="en-US" sz="1650" dirty="0"/>
          </a:p>
        </p:txBody>
      </p:sp>
      <p:sp>
        <p:nvSpPr>
          <p:cNvPr id="4" name="Text 2"/>
          <p:cNvSpPr/>
          <p:nvPr/>
        </p:nvSpPr>
        <p:spPr>
          <a:xfrm>
            <a:off x="342900" y="933450"/>
            <a:ext cx="2825496" cy="782836"/>
          </a:xfrm>
          <a:prstGeom prst="rect">
            <a:avLst/>
          </a:prstGeom>
          <a:noFill/>
          <a:ln/>
        </p:spPr>
        <p:txBody>
          <a:bodyPr wrap="square" lIns="25400" tIns="25400" rIns="25400" bIns="25400" rtlCol="0" anchor="t">
            <a:normAutofit/>
          </a:bodyPr>
          <a:lstStyle/>
          <a:p>
            <a:pPr algn="l" indent="0" marL="0">
              <a:lnSpc>
                <a:spcPct val="100256"/>
              </a:lnSpc>
              <a:buNone/>
            </a:pPr>
            <a:r>
              <a:rPr lang="en-US" sz="2550" b="1" dirty="0">
                <a:solidFill>
                  <a:srgbClr val="2A4B5B"/>
                </a:solidFill>
                <a:latin typeface="Arial" pitchFamily="34" charset="0"/>
                <a:ea typeface="Arial" pitchFamily="34" charset="-122"/>
                <a:cs typeface="Arial" pitchFamily="34" charset="-120"/>
              </a:rPr>
              <a:t>Inteligencia de Marketing</a:t>
            </a:r>
            <a:endParaRPr lang="en-US" sz="2550" dirty="0"/>
          </a:p>
        </p:txBody>
      </p:sp>
      <p:sp>
        <p:nvSpPr>
          <p:cNvPr id="5" name="Text 3"/>
          <p:cNvSpPr/>
          <p:nvPr/>
        </p:nvSpPr>
        <p:spPr>
          <a:xfrm>
            <a:off x="342900" y="1868686"/>
            <a:ext cx="2825496" cy="571500"/>
          </a:xfrm>
          <a:prstGeom prst="rect">
            <a:avLst/>
          </a:prstGeom>
          <a:noFill/>
          <a:ln/>
        </p:spPr>
        <p:txBody>
          <a:bodyPr wrap="square" lIns="25400" tIns="25400" rIns="25400" bIns="25400" rtlCol="0" anchor="t">
            <a:normAutofit/>
          </a:bodyPr>
          <a:lstStyle/>
          <a:p>
            <a:pPr algn="l" indent="0" marL="0">
              <a:lnSpc>
                <a:spcPct val="121739"/>
              </a:lnSpc>
              <a:buNone/>
            </a:pPr>
            <a:r>
              <a:rPr lang="en-US" sz="1500" dirty="0">
                <a:solidFill>
                  <a:srgbClr val="2A4B5B"/>
                </a:solidFill>
                <a:latin typeface="Arial" pitchFamily="34" charset="0"/>
                <a:ea typeface="Arial" pitchFamily="34" charset="-122"/>
                <a:cs typeface="Arial" pitchFamily="34" charset="-120"/>
              </a:rPr>
              <a:t>Saber dónde estamos parados en el mercado.</a:t>
            </a:r>
            <a:endParaRPr lang="en-US" sz="1500" dirty="0"/>
          </a:p>
        </p:txBody>
      </p:sp>
      <p:sp>
        <p:nvSpPr>
          <p:cNvPr id="6" name="Text 4"/>
          <p:cNvSpPr/>
          <p:nvPr/>
        </p:nvSpPr>
        <p:spPr>
          <a:xfrm>
            <a:off x="342900" y="2554486"/>
            <a:ext cx="2825496" cy="766763"/>
          </a:xfrm>
          <a:prstGeom prst="rect">
            <a:avLst/>
          </a:prstGeom>
          <a:noFill/>
          <a:ln/>
        </p:spPr>
        <p:txBody>
          <a:bodyPr wrap="square" lIns="25400" tIns="25400" rIns="25400" bIns="25400" rtlCol="0" anchor="t">
            <a:normAutofit/>
          </a:bodyPr>
          <a:lstStyle/>
          <a:p>
            <a:pPr algn="l" indent="0" marL="0">
              <a:lnSpc>
                <a:spcPct val="127500"/>
              </a:lnSpc>
              <a:buNone/>
            </a:pPr>
            <a:r>
              <a:rPr lang="en-US" sz="1275" dirty="0">
                <a:solidFill>
                  <a:srgbClr val="2A4B5B">
                    <a:alpha val="85000"/>
                  </a:srgbClr>
                </a:solidFill>
                <a:latin typeface="Arial" pitchFamily="34" charset="0"/>
                <a:ea typeface="Arial" pitchFamily="34" charset="-122"/>
                <a:cs typeface="Arial" pitchFamily="34" charset="-120"/>
              </a:rPr>
              <a:t>Más allá de las finanzas internas, el grupo necesitaba entender su posición competitiva. Esta capa lo resuelve.</a:t>
            </a:r>
            <a:endParaRPr lang="en-US" sz="1275" dirty="0"/>
          </a:p>
        </p:txBody>
      </p:sp>
      <p:sp>
        <p:nvSpPr>
          <p:cNvPr id="7" name="Text 5"/>
          <p:cNvSpPr/>
          <p:nvPr/>
        </p:nvSpPr>
        <p:spPr>
          <a:xfrm>
            <a:off x="342900" y="9273778"/>
            <a:ext cx="2825496" cy="517922"/>
          </a:xfrm>
          <a:prstGeom prst="rect">
            <a:avLst/>
          </a:prstGeom>
          <a:noFill/>
          <a:ln/>
        </p:spPr>
        <p:txBody>
          <a:bodyPr wrap="square" lIns="25400" tIns="25400" rIns="25400" bIns="25400" rtlCol="0" anchor="t">
            <a:normAutofit/>
          </a:bodyPr>
          <a:lstStyle/>
          <a:p>
            <a:pPr algn="l" indent="0" marL="0">
              <a:lnSpc>
                <a:spcPct val="120000"/>
              </a:lnSpc>
              <a:buNone/>
            </a:pPr>
            <a:r>
              <a:rPr lang="en-US" sz="1350" b="1" dirty="0">
                <a:solidFill>
                  <a:srgbClr val="2A4B5B"/>
                </a:solidFill>
                <a:latin typeface="Arial" pitchFamily="34" charset="0"/>
                <a:ea typeface="Arial" pitchFamily="34" charset="-122"/>
                <a:cs typeface="Arial" pitchFamily="34" charset="-120"/>
              </a:rPr>
              <a:t>El grupo deja de reaccionar al mercado y empieza a leerlo antes.</a:t>
            </a:r>
            <a:endParaRPr lang="en-US" sz="1350" dirty="0"/>
          </a:p>
        </p:txBody>
      </p:sp>
      <p:sp>
        <p:nvSpPr>
          <p:cNvPr id="8" name="Shape 6"/>
          <p:cNvSpPr/>
          <p:nvPr/>
        </p:nvSpPr>
        <p:spPr>
          <a:xfrm>
            <a:off x="3733800" y="2286595"/>
            <a:ext cx="85725" cy="85725"/>
          </a:xfrm>
          <a:prstGeom prst="ellipse">
            <a:avLst/>
          </a:prstGeom>
          <a:solidFill>
            <a:srgbClr val="EDC54D"/>
          </a:solidFill>
          <a:ln/>
        </p:spPr>
      </p:sp>
      <p:sp>
        <p:nvSpPr>
          <p:cNvPr id="9" name="Text 7"/>
          <p:cNvSpPr/>
          <p:nvPr/>
        </p:nvSpPr>
        <p:spPr>
          <a:xfrm>
            <a:off x="3971925" y="2200870"/>
            <a:ext cx="3639788" cy="1060847"/>
          </a:xfrm>
          <a:prstGeom prst="rect">
            <a:avLst/>
          </a:prstGeom>
          <a:noFill/>
          <a:ln/>
        </p:spPr>
        <p:txBody>
          <a:bodyPr wrap="square" lIns="25400" tIns="25400" rIns="25400" bIns="25400" rtlCol="0" anchor="t">
            <a:normAutofit/>
          </a:bodyPr>
          <a:lstStyle/>
          <a:p>
            <a:pPr algn="l" indent="0" marL="0">
              <a:lnSpc>
                <a:spcPct val="120909"/>
              </a:lnSpc>
              <a:buNone/>
            </a:pPr>
            <a:r>
              <a:rPr lang="en-US" sz="1425" b="1" dirty="0">
                <a:solidFill>
                  <a:srgbClr val="2A4B5B"/>
                </a:solidFill>
                <a:latin typeface="Arial" pitchFamily="34" charset="0"/>
                <a:ea typeface="Arial" pitchFamily="34" charset="-122"/>
                <a:cs typeface="Arial" pitchFamily="34" charset="-120"/>
              </a:rPr>
              <a:t>Mapa del Holding: </a:t>
            </a:r>
            <a:pPr algn="l" indent="0" marL="0">
              <a:lnSpc>
                <a:spcPct val="120909"/>
              </a:lnSpc>
              <a:buNone/>
            </a:pPr>
            <a:r>
              <a:rPr lang="en-US" sz="1425" dirty="0">
                <a:solidFill>
                  <a:srgbClr val="2A4B5B"/>
                </a:solidFill>
                <a:latin typeface="Arial" pitchFamily="34" charset="0"/>
                <a:ea typeface="Arial" pitchFamily="34" charset="-122"/>
                <a:cs typeface="Arial" pitchFamily="34" charset="-120"/>
              </a:rPr>
              <a:t>las 6 empresas del grupo, sus redes globales (WPP, Publicis, Omnicom, IPG, DAN), especialidades, clientes e insight estratégico de cada una.</a:t>
            </a:r>
            <a:endParaRPr lang="en-US" sz="1425" dirty="0"/>
          </a:p>
        </p:txBody>
      </p:sp>
      <p:sp>
        <p:nvSpPr>
          <p:cNvPr id="10" name="Shape 8"/>
          <p:cNvSpPr/>
          <p:nvPr/>
        </p:nvSpPr>
        <p:spPr>
          <a:xfrm>
            <a:off x="3733800" y="3461742"/>
            <a:ext cx="85725" cy="85725"/>
          </a:xfrm>
          <a:prstGeom prst="ellipse">
            <a:avLst/>
          </a:prstGeom>
          <a:solidFill>
            <a:srgbClr val="EDC54D"/>
          </a:solidFill>
          <a:ln/>
        </p:spPr>
      </p:sp>
      <p:sp>
        <p:nvSpPr>
          <p:cNvPr id="11" name="Text 9"/>
          <p:cNvSpPr/>
          <p:nvPr/>
        </p:nvSpPr>
        <p:spPr>
          <a:xfrm>
            <a:off x="3971925" y="3376017"/>
            <a:ext cx="3639788" cy="807541"/>
          </a:xfrm>
          <a:prstGeom prst="rect">
            <a:avLst/>
          </a:prstGeom>
          <a:noFill/>
          <a:ln/>
        </p:spPr>
        <p:txBody>
          <a:bodyPr wrap="square" lIns="25400" tIns="25400" rIns="25400" bIns="25400" rtlCol="0" anchor="t">
            <a:normAutofit/>
          </a:bodyPr>
          <a:lstStyle/>
          <a:p>
            <a:pPr algn="l" indent="0" marL="0">
              <a:lnSpc>
                <a:spcPct val="120909"/>
              </a:lnSpc>
              <a:buNone/>
            </a:pPr>
            <a:r>
              <a:rPr lang="en-US" sz="1425" b="1" dirty="0">
                <a:solidFill>
                  <a:srgbClr val="2A4B5B"/>
                </a:solidFill>
                <a:latin typeface="Arial" pitchFamily="34" charset="0"/>
                <a:ea typeface="Arial" pitchFamily="34" charset="-122"/>
                <a:cs typeface="Arial" pitchFamily="34" charset="-120"/>
              </a:rPr>
              <a:t>Mercado Publicitario PY 2024: </a:t>
            </a:r>
            <a:pPr algn="l" indent="0" marL="0">
              <a:lnSpc>
                <a:spcPct val="120909"/>
              </a:lnSpc>
              <a:buNone/>
            </a:pPr>
            <a:r>
              <a:rPr lang="en-US" sz="1425" dirty="0">
                <a:solidFill>
                  <a:srgbClr val="2A4B5B"/>
                </a:solidFill>
                <a:latin typeface="Arial" pitchFamily="34" charset="0"/>
                <a:ea typeface="Arial" pitchFamily="34" charset="-122"/>
                <a:cs typeface="Arial" pitchFamily="34" charset="-120"/>
              </a:rPr>
              <a:t>US$144.3M totales, +6.5% vs 2023. Digital lidera con 38.5%, OOH crece, TV en contracción.</a:t>
            </a:r>
            <a:endParaRPr lang="en-US" sz="1425" dirty="0"/>
          </a:p>
        </p:txBody>
      </p:sp>
      <p:sp>
        <p:nvSpPr>
          <p:cNvPr id="12" name="Shape 10"/>
          <p:cNvSpPr/>
          <p:nvPr/>
        </p:nvSpPr>
        <p:spPr>
          <a:xfrm>
            <a:off x="3733800" y="4383584"/>
            <a:ext cx="85725" cy="85725"/>
          </a:xfrm>
          <a:prstGeom prst="ellipse">
            <a:avLst/>
          </a:prstGeom>
          <a:solidFill>
            <a:srgbClr val="EDC54D"/>
          </a:solidFill>
          <a:ln/>
        </p:spPr>
      </p:sp>
      <p:sp>
        <p:nvSpPr>
          <p:cNvPr id="13" name="Text 11"/>
          <p:cNvSpPr/>
          <p:nvPr/>
        </p:nvSpPr>
        <p:spPr>
          <a:xfrm>
            <a:off x="3971925" y="4297859"/>
            <a:ext cx="3639788" cy="807541"/>
          </a:xfrm>
          <a:prstGeom prst="rect">
            <a:avLst/>
          </a:prstGeom>
          <a:noFill/>
          <a:ln/>
        </p:spPr>
        <p:txBody>
          <a:bodyPr wrap="square" lIns="25400" tIns="25400" rIns="25400" bIns="25400" rtlCol="0" anchor="t">
            <a:normAutofit/>
          </a:bodyPr>
          <a:lstStyle/>
          <a:p>
            <a:pPr algn="l" indent="0" marL="0">
              <a:lnSpc>
                <a:spcPct val="120909"/>
              </a:lnSpc>
              <a:buNone/>
            </a:pPr>
            <a:r>
              <a:rPr lang="en-US" sz="1425" b="1" dirty="0">
                <a:solidFill>
                  <a:srgbClr val="2A4B5B"/>
                </a:solidFill>
                <a:latin typeface="Arial" pitchFamily="34" charset="0"/>
                <a:ea typeface="Arial" pitchFamily="34" charset="-122"/>
                <a:cs typeface="Arial" pitchFamily="34" charset="-120"/>
              </a:rPr>
              <a:t>Noticias de la industria </a:t>
            </a:r>
            <a:pPr algn="l" indent="0" marL="0">
              <a:lnSpc>
                <a:spcPct val="120909"/>
              </a:lnSpc>
              <a:buNone/>
            </a:pPr>
            <a:r>
              <a:rPr lang="en-US" sz="1425" dirty="0">
                <a:solidFill>
                  <a:srgbClr val="2A4B5B"/>
                </a:solidFill>
                <a:latin typeface="Arial" pitchFamily="34" charset="0"/>
                <a:ea typeface="Arial" pitchFamily="34" charset="-122"/>
                <a:cs typeface="Arial" pitchFamily="34" charset="-120"/>
              </a:rPr>
              <a:t>en tiempo real: Paraguay y redes globales, actualizadas automáticamente.</a:t>
            </a:r>
            <a:endParaRPr lang="en-US" sz="1425" dirty="0"/>
          </a:p>
        </p:txBody>
      </p:sp>
      <p:sp>
        <p:nvSpPr>
          <p:cNvPr id="14" name="Shape 12"/>
          <p:cNvSpPr/>
          <p:nvPr/>
        </p:nvSpPr>
        <p:spPr>
          <a:xfrm>
            <a:off x="3733800" y="5305425"/>
            <a:ext cx="85725" cy="85725"/>
          </a:xfrm>
          <a:prstGeom prst="ellipse">
            <a:avLst/>
          </a:prstGeom>
          <a:solidFill>
            <a:srgbClr val="EDC54D"/>
          </a:solidFill>
          <a:ln/>
        </p:spPr>
      </p:sp>
      <p:sp>
        <p:nvSpPr>
          <p:cNvPr id="15" name="Text 13"/>
          <p:cNvSpPr/>
          <p:nvPr/>
        </p:nvSpPr>
        <p:spPr>
          <a:xfrm>
            <a:off x="3971925" y="5219700"/>
            <a:ext cx="3639788" cy="1060847"/>
          </a:xfrm>
          <a:prstGeom prst="rect">
            <a:avLst/>
          </a:prstGeom>
          <a:noFill/>
          <a:ln/>
        </p:spPr>
        <p:txBody>
          <a:bodyPr wrap="square" lIns="25400" tIns="25400" rIns="25400" bIns="25400" rtlCol="0" anchor="t">
            <a:normAutofit/>
          </a:bodyPr>
          <a:lstStyle/>
          <a:p>
            <a:pPr algn="l" indent="0" marL="0">
              <a:lnSpc>
                <a:spcPct val="120909"/>
              </a:lnSpc>
              <a:buNone/>
            </a:pPr>
            <a:r>
              <a:rPr lang="en-US" sz="1425" b="1" dirty="0">
                <a:solidFill>
                  <a:srgbClr val="2A4B5B"/>
                </a:solidFill>
                <a:latin typeface="Arial" pitchFamily="34" charset="0"/>
                <a:ea typeface="Arial" pitchFamily="34" charset="-122"/>
                <a:cs typeface="Arial" pitchFamily="34" charset="-120"/>
              </a:rPr>
              <a:t>Alertas Estratégicas con IA: </a:t>
            </a:r>
            <a:pPr algn="l" indent="0" marL="0">
              <a:lnSpc>
                <a:spcPct val="120909"/>
              </a:lnSpc>
              <a:buNone/>
            </a:pPr>
            <a:r>
              <a:rPr lang="en-US" sz="1425" dirty="0">
                <a:solidFill>
                  <a:srgbClr val="2A4B5B"/>
                </a:solidFill>
                <a:latin typeface="Arial" pitchFamily="34" charset="0"/>
                <a:ea typeface="Arial" pitchFamily="34" charset="-122"/>
                <a:cs typeface="Arial" pitchFamily="34" charset="-120"/>
              </a:rPr>
              <a:t>tensiones, oportunidades y riesgos del holding, analizados y escritos por IA, actualizables a pedido.</a:t>
            </a:r>
            <a:endParaRPr lang="en-US" sz="1425" dirty="0"/>
          </a:p>
        </p:txBody>
      </p:sp>
      <p:sp>
        <p:nvSpPr>
          <p:cNvPr id="16" name="Shape 14"/>
          <p:cNvSpPr/>
          <p:nvPr/>
        </p:nvSpPr>
        <p:spPr>
          <a:xfrm>
            <a:off x="3733800" y="6480572"/>
            <a:ext cx="85725" cy="85725"/>
          </a:xfrm>
          <a:prstGeom prst="ellipse">
            <a:avLst/>
          </a:prstGeom>
          <a:solidFill>
            <a:srgbClr val="EDC54D"/>
          </a:solidFill>
          <a:ln/>
        </p:spPr>
      </p:sp>
      <p:sp>
        <p:nvSpPr>
          <p:cNvPr id="17" name="Text 15"/>
          <p:cNvSpPr/>
          <p:nvPr/>
        </p:nvSpPr>
        <p:spPr>
          <a:xfrm>
            <a:off x="3971925" y="6394847"/>
            <a:ext cx="3639788" cy="807541"/>
          </a:xfrm>
          <a:prstGeom prst="rect">
            <a:avLst/>
          </a:prstGeom>
          <a:noFill/>
          <a:ln/>
        </p:spPr>
        <p:txBody>
          <a:bodyPr wrap="square" lIns="25400" tIns="25400" rIns="25400" bIns="25400" rtlCol="0" anchor="t">
            <a:normAutofit/>
          </a:bodyPr>
          <a:lstStyle/>
          <a:p>
            <a:pPr algn="l" indent="0" marL="0">
              <a:lnSpc>
                <a:spcPct val="120909"/>
              </a:lnSpc>
              <a:buNone/>
            </a:pPr>
            <a:r>
              <a:rPr lang="en-US" sz="1425" b="1" dirty="0">
                <a:solidFill>
                  <a:srgbClr val="2A4B5B"/>
                </a:solidFill>
                <a:latin typeface="Arial" pitchFamily="34" charset="0"/>
                <a:ea typeface="Arial" pitchFamily="34" charset="-122"/>
                <a:cs typeface="Arial" pitchFamily="34" charset="-120"/>
              </a:rPr>
              <a:t>Briefing de Redes Globales: </a:t>
            </a:r>
            <a:pPr algn="l" indent="0" marL="0">
              <a:lnSpc>
                <a:spcPct val="120909"/>
              </a:lnSpc>
              <a:buNone/>
            </a:pPr>
            <a:r>
              <a:rPr lang="en-US" sz="1425" dirty="0">
                <a:solidFill>
                  <a:srgbClr val="2A4B5B"/>
                </a:solidFill>
                <a:latin typeface="Arial" pitchFamily="34" charset="0"/>
                <a:ea typeface="Arial" pitchFamily="34" charset="-122"/>
                <a:cs typeface="Arial" pitchFamily="34" charset="-120"/>
              </a:rPr>
              <a:t>qué pasa en WPP, Publicis, Omnicom+IPG y DAN, y qué significa para cada agencia del grupo.</a:t>
            </a:r>
            <a:endParaRPr lang="en-US" sz="1425" dirty="0"/>
          </a:p>
        </p:txBody>
      </p:sp>
      <p:sp>
        <p:nvSpPr>
          <p:cNvPr id="18" name="Shape 16"/>
          <p:cNvSpPr/>
          <p:nvPr/>
        </p:nvSpPr>
        <p:spPr>
          <a:xfrm>
            <a:off x="3733800" y="7402413"/>
            <a:ext cx="85725" cy="85725"/>
          </a:xfrm>
          <a:prstGeom prst="ellipse">
            <a:avLst/>
          </a:prstGeom>
          <a:solidFill>
            <a:srgbClr val="EDC54D"/>
          </a:solidFill>
          <a:ln/>
        </p:spPr>
      </p:sp>
      <p:sp>
        <p:nvSpPr>
          <p:cNvPr id="19" name="Text 17"/>
          <p:cNvSpPr/>
          <p:nvPr/>
        </p:nvSpPr>
        <p:spPr>
          <a:xfrm>
            <a:off x="3971925" y="7316688"/>
            <a:ext cx="3639788" cy="807541"/>
          </a:xfrm>
          <a:prstGeom prst="rect">
            <a:avLst/>
          </a:prstGeom>
          <a:noFill/>
          <a:ln/>
        </p:spPr>
        <p:txBody>
          <a:bodyPr wrap="square" lIns="25400" tIns="25400" rIns="25400" bIns="25400" rtlCol="0" anchor="t">
            <a:normAutofit/>
          </a:bodyPr>
          <a:lstStyle/>
          <a:p>
            <a:pPr algn="l" indent="0" marL="0">
              <a:lnSpc>
                <a:spcPct val="120909"/>
              </a:lnSpc>
              <a:buNone/>
            </a:pPr>
            <a:r>
              <a:rPr lang="en-US" sz="1425" b="1" dirty="0">
                <a:solidFill>
                  <a:srgbClr val="2A4B5B"/>
                </a:solidFill>
                <a:latin typeface="Arial" pitchFamily="34" charset="0"/>
                <a:ea typeface="Arial" pitchFamily="34" charset="-122"/>
                <a:cs typeface="Arial" pitchFamily="34" charset="-120"/>
              </a:rPr>
              <a:t>Asistente IA: </a:t>
            </a:r>
            <a:pPr algn="l" indent="0" marL="0">
              <a:lnSpc>
                <a:spcPct val="120909"/>
              </a:lnSpc>
              <a:buNone/>
            </a:pPr>
            <a:r>
              <a:rPr lang="en-US" sz="1425" dirty="0">
                <a:solidFill>
                  <a:srgbClr val="2A4B5B"/>
                </a:solidFill>
                <a:latin typeface="Arial" pitchFamily="34" charset="0"/>
                <a:ea typeface="Arial" pitchFamily="34" charset="-122"/>
                <a:cs typeface="Arial" pitchFamily="34" charset="-120"/>
              </a:rPr>
              <a:t>consultá sobre el holding, el mercado o la competencia en lenguaje natural.</a:t>
            </a:r>
            <a:endParaRPr lang="en-US" sz="1425" dirty="0"/>
          </a:p>
        </p:txBody>
      </p:sp>
      <p:sp>
        <p:nvSpPr>
          <p:cNvPr id="20" name="Shape 18"/>
          <p:cNvSpPr/>
          <p:nvPr/>
        </p:nvSpPr>
        <p:spPr>
          <a:xfrm>
            <a:off x="7810500" y="1514475"/>
            <a:ext cx="9944100" cy="3886200"/>
          </a:xfrm>
          <a:prstGeom prst="roundRect">
            <a:avLst>
              <a:gd name="adj" fmla="val 2941"/>
            </a:avLst>
          </a:prstGeom>
          <a:solidFill>
            <a:srgbClr val="F4F2EE"/>
          </a:solidFill>
          <a:ln/>
          <a:effectLst>
            <a:outerShdw sx="100000" sy="100000" kx="0" ky="0" algn="bl" rotWithShape="0" blurRad="476250" dist="190500" dir="5400000">
              <a:srgbClr val="2A4B5B">
                <a:alpha val="16000"/>
              </a:srgbClr>
            </a:outerShdw>
          </a:effectLst>
        </p:spPr>
      </p:sp>
      <p:sp>
        <p:nvSpPr>
          <p:cNvPr id="21" name="Shape 19"/>
          <p:cNvSpPr/>
          <p:nvPr/>
        </p:nvSpPr>
        <p:spPr>
          <a:xfrm>
            <a:off x="7810500" y="1514475"/>
            <a:ext cx="9944100" cy="266700"/>
          </a:xfrm>
          <a:prstGeom prst="rect">
            <a:avLst/>
          </a:prstGeom>
          <a:solidFill>
            <a:srgbClr val="E3DDD2"/>
          </a:solidFill>
          <a:ln/>
        </p:spPr>
      </p:sp>
      <p:sp>
        <p:nvSpPr>
          <p:cNvPr id="22" name="Shape 20"/>
          <p:cNvSpPr/>
          <p:nvPr/>
        </p:nvSpPr>
        <p:spPr>
          <a:xfrm>
            <a:off x="7943850" y="1604963"/>
            <a:ext cx="85725" cy="85725"/>
          </a:xfrm>
          <a:prstGeom prst="ellipse">
            <a:avLst/>
          </a:prstGeom>
          <a:solidFill>
            <a:srgbClr val="C0554A"/>
          </a:solidFill>
          <a:ln/>
        </p:spPr>
      </p:sp>
      <p:sp>
        <p:nvSpPr>
          <p:cNvPr id="23" name="Shape 21"/>
          <p:cNvSpPr/>
          <p:nvPr/>
        </p:nvSpPr>
        <p:spPr>
          <a:xfrm>
            <a:off x="8105775" y="1604963"/>
            <a:ext cx="85725" cy="85725"/>
          </a:xfrm>
          <a:prstGeom prst="ellipse">
            <a:avLst/>
          </a:prstGeom>
          <a:solidFill>
            <a:srgbClr val="EDC54D"/>
          </a:solidFill>
          <a:ln/>
        </p:spPr>
      </p:sp>
      <p:sp>
        <p:nvSpPr>
          <p:cNvPr id="24" name="Shape 22"/>
          <p:cNvSpPr/>
          <p:nvPr/>
        </p:nvSpPr>
        <p:spPr>
          <a:xfrm>
            <a:off x="8267700" y="1604963"/>
            <a:ext cx="85725" cy="85725"/>
          </a:xfrm>
          <a:prstGeom prst="ellipse">
            <a:avLst/>
          </a:prstGeom>
          <a:solidFill>
            <a:srgbClr val="66AC97"/>
          </a:solidFill>
          <a:ln/>
        </p:spPr>
      </p:sp>
      <p:sp>
        <p:nvSpPr>
          <p:cNvPr id="25" name="Shape 23"/>
          <p:cNvSpPr/>
          <p:nvPr/>
        </p:nvSpPr>
        <p:spPr>
          <a:xfrm>
            <a:off x="7810500" y="1781175"/>
            <a:ext cx="9944100" cy="3619500"/>
          </a:xfrm>
          <a:prstGeom prst="rect">
            <a:avLst/>
          </a:prstGeom>
          <a:solidFill>
            <a:srgbClr val="000000">
              <a:alpha val="4000"/>
            </a:srgbClr>
          </a:solidFill>
          <a:ln/>
        </p:spPr>
      </p:sp>
      <p:pic>
        <p:nvPicPr>
          <p:cNvPr id="26" name="Image 0" descr="preencoded.png">    </p:cNvPr>
          <p:cNvPicPr>
            <a:picLocks noChangeAspect="1"/>
          </p:cNvPicPr>
          <p:nvPr/>
        </p:nvPicPr>
        <p:blipFill>
          <a:blip r:embed="rId1"/>
          <a:srcRect l="-8726" r="-8726" t="0" b="0"/>
          <a:stretch/>
        </p:blipFill>
        <p:spPr>
          <a:xfrm>
            <a:off x="7810500" y="1781175"/>
            <a:ext cx="9944100" cy="3619500"/>
          </a:xfrm>
          <a:prstGeom prst="rect">
            <a:avLst/>
          </a:prstGeom>
        </p:spPr>
      </p:pic>
      <p:sp>
        <p:nvSpPr>
          <p:cNvPr id="27" name="Shape 24"/>
          <p:cNvSpPr/>
          <p:nvPr/>
        </p:nvSpPr>
        <p:spPr>
          <a:xfrm>
            <a:off x="7810500" y="5553075"/>
            <a:ext cx="9944100" cy="3219450"/>
          </a:xfrm>
          <a:prstGeom prst="roundRect">
            <a:avLst>
              <a:gd name="adj" fmla="val 3550"/>
            </a:avLst>
          </a:prstGeom>
          <a:solidFill>
            <a:srgbClr val="F4F2EE"/>
          </a:solidFill>
          <a:ln/>
          <a:effectLst>
            <a:outerShdw sx="100000" sy="100000" kx="0" ky="0" algn="bl" rotWithShape="0" blurRad="476250" dist="190500" dir="5400000">
              <a:srgbClr val="2A4B5B">
                <a:alpha val="16000"/>
              </a:srgbClr>
            </a:outerShdw>
          </a:effectLst>
        </p:spPr>
      </p:sp>
      <p:sp>
        <p:nvSpPr>
          <p:cNvPr id="28" name="Shape 25"/>
          <p:cNvSpPr/>
          <p:nvPr/>
        </p:nvSpPr>
        <p:spPr>
          <a:xfrm>
            <a:off x="7810500" y="5553075"/>
            <a:ext cx="9944100" cy="266700"/>
          </a:xfrm>
          <a:prstGeom prst="rect">
            <a:avLst/>
          </a:prstGeom>
          <a:solidFill>
            <a:srgbClr val="E3DDD2"/>
          </a:solidFill>
          <a:ln/>
        </p:spPr>
      </p:sp>
      <p:sp>
        <p:nvSpPr>
          <p:cNvPr id="29" name="Shape 26"/>
          <p:cNvSpPr/>
          <p:nvPr/>
        </p:nvSpPr>
        <p:spPr>
          <a:xfrm>
            <a:off x="7943850" y="5643563"/>
            <a:ext cx="85725" cy="85725"/>
          </a:xfrm>
          <a:prstGeom prst="ellipse">
            <a:avLst/>
          </a:prstGeom>
          <a:solidFill>
            <a:srgbClr val="C0554A"/>
          </a:solidFill>
          <a:ln/>
        </p:spPr>
      </p:sp>
      <p:sp>
        <p:nvSpPr>
          <p:cNvPr id="30" name="Shape 27"/>
          <p:cNvSpPr/>
          <p:nvPr/>
        </p:nvSpPr>
        <p:spPr>
          <a:xfrm>
            <a:off x="8105775" y="5643563"/>
            <a:ext cx="85725" cy="85725"/>
          </a:xfrm>
          <a:prstGeom prst="ellipse">
            <a:avLst/>
          </a:prstGeom>
          <a:solidFill>
            <a:srgbClr val="EDC54D"/>
          </a:solidFill>
          <a:ln/>
        </p:spPr>
      </p:sp>
      <p:sp>
        <p:nvSpPr>
          <p:cNvPr id="31" name="Shape 28"/>
          <p:cNvSpPr/>
          <p:nvPr/>
        </p:nvSpPr>
        <p:spPr>
          <a:xfrm>
            <a:off x="8267700" y="5643563"/>
            <a:ext cx="85725" cy="85725"/>
          </a:xfrm>
          <a:prstGeom prst="ellipse">
            <a:avLst/>
          </a:prstGeom>
          <a:solidFill>
            <a:srgbClr val="66AC97"/>
          </a:solidFill>
          <a:ln/>
        </p:spPr>
      </p:sp>
      <p:sp>
        <p:nvSpPr>
          <p:cNvPr id="32" name="Shape 29"/>
          <p:cNvSpPr/>
          <p:nvPr/>
        </p:nvSpPr>
        <p:spPr>
          <a:xfrm>
            <a:off x="7810500" y="5819775"/>
            <a:ext cx="9944100" cy="2952750"/>
          </a:xfrm>
          <a:prstGeom prst="rect">
            <a:avLst/>
          </a:prstGeom>
          <a:solidFill>
            <a:srgbClr val="000000">
              <a:alpha val="4000"/>
            </a:srgbClr>
          </a:solidFill>
          <a:ln/>
        </p:spPr>
      </p:sp>
      <p:pic>
        <p:nvPicPr>
          <p:cNvPr id="33" name="Image 1" descr="preencoded.png">    </p:cNvPr>
          <p:cNvPicPr>
            <a:picLocks noChangeAspect="1"/>
          </p:cNvPicPr>
          <p:nvPr/>
        </p:nvPicPr>
        <p:blipFill>
          <a:blip r:embed="rId2"/>
          <a:srcRect l="-19170" r="-19170" t="0" b="0"/>
          <a:stretch/>
        </p:blipFill>
        <p:spPr>
          <a:xfrm>
            <a:off x="7810500" y="5819775"/>
            <a:ext cx="9944100" cy="2952750"/>
          </a:xfrm>
          <a:prstGeom prst="rect">
            <a:avLst/>
          </a:prstGeom>
        </p:spPr>
      </p:pic>
      <p:sp>
        <p:nvSpPr>
          <p:cNvPr id="34" name="Text 30"/>
          <p:cNvSpPr/>
          <p:nvPr/>
        </p:nvSpPr>
        <p:spPr>
          <a:xfrm>
            <a:off x="14982527" y="9782175"/>
            <a:ext cx="2965460" cy="228600"/>
          </a:xfrm>
          <a:prstGeom prst="rect">
            <a:avLst/>
          </a:prstGeom>
          <a:noFill/>
          <a:ln/>
        </p:spPr>
        <p:txBody>
          <a:bodyPr wrap="square" lIns="25400" tIns="25400" rIns="25400" bIns="25400" rtlCol="0" anchor="t">
            <a:normAutofit/>
          </a:bodyPr>
          <a:lstStyle/>
          <a:p>
            <a:pPr algn="l" indent="0" marL="0">
              <a:buNone/>
            </a:pPr>
            <a:r>
              <a:rPr lang="en-US" sz="1350" b="1" spc="27" kern="0" dirty="0">
                <a:solidFill>
                  <a:srgbClr val="2A4B5B">
                    <a:alpha val="60000"/>
                  </a:srgbClr>
                </a:solidFill>
                <a:latin typeface="Arial" pitchFamily="34" charset="0"/>
                <a:ea typeface="Arial" pitchFamily="34" charset="-122"/>
                <a:cs typeface="Arial" pitchFamily="34" charset="-120"/>
              </a:rPr>
              <a:t>IMPULSADOS PARA CONECTAR</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A4B5B"/>
        </a:solidFill>
      </p:bgPr>
    </p:bg>
    <p:spTree>
      <p:nvGrpSpPr>
        <p:cNvPr id="1" name=""/>
        <p:cNvGrpSpPr/>
        <p:nvPr/>
      </p:nvGrpSpPr>
      <p:grpSpPr>
        <a:xfrm>
          <a:off x="0" y="0"/>
          <a:ext cx="0" cy="0"/>
          <a:chOff x="0" y="0"/>
          <a:chExt cx="0" cy="0"/>
        </a:xfrm>
      </p:grpSpPr>
      <p:sp>
        <p:nvSpPr>
          <p:cNvPr id="2" name="Text 0"/>
          <p:cNvSpPr/>
          <p:nvPr/>
        </p:nvSpPr>
        <p:spPr>
          <a:xfrm>
            <a:off x="914400" y="609600"/>
            <a:ext cx="18105120" cy="285750"/>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C0554A"/>
                </a:solidFill>
                <a:latin typeface="Arial" pitchFamily="34" charset="0"/>
                <a:ea typeface="Arial" pitchFamily="34" charset="-122"/>
                <a:cs typeface="Arial" pitchFamily="34" charset="-120"/>
              </a:rPr>
              <a:t>CAPA 03 · ADLENS</a:t>
            </a:r>
            <a:endParaRPr lang="en-US" sz="1650" dirty="0"/>
          </a:p>
        </p:txBody>
      </p:sp>
      <p:sp>
        <p:nvSpPr>
          <p:cNvPr id="3" name="Text 1"/>
          <p:cNvSpPr/>
          <p:nvPr/>
        </p:nvSpPr>
        <p:spPr>
          <a:xfrm>
            <a:off x="914400" y="1009650"/>
            <a:ext cx="15716250" cy="624780"/>
          </a:xfrm>
          <a:prstGeom prst="rect">
            <a:avLst/>
          </a:prstGeom>
          <a:noFill/>
          <a:ln/>
        </p:spPr>
        <p:txBody>
          <a:bodyPr wrap="square" lIns="25400" tIns="25400" rIns="25400" bIns="25400" rtlCol="0" anchor="t">
            <a:normAutofit/>
          </a:bodyPr>
          <a:lstStyle/>
          <a:p>
            <a:pPr algn="l" indent="0" marL="0">
              <a:lnSpc>
                <a:spcPct val="94769"/>
              </a:lnSpc>
              <a:buNone/>
            </a:pPr>
            <a:r>
              <a:rPr lang="en-US" sz="4200" b="1" dirty="0">
                <a:solidFill>
                  <a:srgbClr val="FFFFFF"/>
                </a:solidFill>
                <a:latin typeface="Arial" pitchFamily="34" charset="0"/>
                <a:ea typeface="Arial" pitchFamily="34" charset="-122"/>
                <a:cs typeface="Arial" pitchFamily="34" charset="-120"/>
              </a:rPr>
              <a:t>El mercado publicitario de Paraguay, en tiempo real</a:t>
            </a:r>
            <a:endParaRPr lang="en-US" sz="4200" dirty="0"/>
          </a:p>
        </p:txBody>
      </p:sp>
      <p:sp>
        <p:nvSpPr>
          <p:cNvPr id="4" name="Shape 2"/>
          <p:cNvSpPr/>
          <p:nvPr/>
        </p:nvSpPr>
        <p:spPr>
          <a:xfrm>
            <a:off x="914400" y="1901130"/>
            <a:ext cx="2219325" cy="1843980"/>
          </a:xfrm>
          <a:prstGeom prst="roundRect">
            <a:avLst>
              <a:gd name="adj" fmla="val 4132"/>
            </a:avLst>
          </a:prstGeom>
          <a:solidFill>
            <a:srgbClr val="FFFFFF">
              <a:alpha val="6000"/>
            </a:srgbClr>
          </a:solidFill>
          <a:ln/>
        </p:spPr>
      </p:sp>
      <p:sp>
        <p:nvSpPr>
          <p:cNvPr id="5" name="Shape 3"/>
          <p:cNvSpPr/>
          <p:nvPr/>
        </p:nvSpPr>
        <p:spPr>
          <a:xfrm>
            <a:off x="914400" y="1901130"/>
            <a:ext cx="38100" cy="1843980"/>
          </a:xfrm>
          <a:prstGeom prst="rect">
            <a:avLst/>
          </a:prstGeom>
          <a:solidFill>
            <a:srgbClr val="C0554A"/>
          </a:solidFill>
          <a:ln/>
        </p:spPr>
      </p:sp>
      <p:sp>
        <p:nvSpPr>
          <p:cNvPr id="6" name="Text 4"/>
          <p:cNvSpPr/>
          <p:nvPr/>
        </p:nvSpPr>
        <p:spPr>
          <a:xfrm>
            <a:off x="1143000" y="2072580"/>
            <a:ext cx="1980248" cy="238125"/>
          </a:xfrm>
          <a:prstGeom prst="rect">
            <a:avLst/>
          </a:prstGeom>
          <a:noFill/>
          <a:ln/>
        </p:spPr>
        <p:txBody>
          <a:bodyPr wrap="square" lIns="25400" tIns="25400" rIns="25400" bIns="25400" rtlCol="0" anchor="t">
            <a:normAutofit/>
          </a:bodyPr>
          <a:lstStyle/>
          <a:p>
            <a:pPr algn="l" indent="0" marL="0">
              <a:buNone/>
            </a:pPr>
            <a:r>
              <a:rPr lang="en-US" sz="1350" b="1" dirty="0">
                <a:solidFill>
                  <a:srgbClr val="FFFFFF"/>
                </a:solidFill>
                <a:latin typeface="Arial" pitchFamily="34" charset="0"/>
                <a:ea typeface="Arial" pitchFamily="34" charset="-122"/>
                <a:cs typeface="Arial" pitchFamily="34" charset="-120"/>
              </a:rPr>
              <a:t>Overview</a:t>
            </a:r>
            <a:endParaRPr lang="en-US" sz="1350" dirty="0"/>
          </a:p>
        </p:txBody>
      </p:sp>
      <p:sp>
        <p:nvSpPr>
          <p:cNvPr id="7" name="Text 5"/>
          <p:cNvSpPr/>
          <p:nvPr/>
        </p:nvSpPr>
        <p:spPr>
          <a:xfrm>
            <a:off x="1143000" y="2329755"/>
            <a:ext cx="1876425" cy="577900"/>
          </a:xfrm>
          <a:prstGeom prst="rect">
            <a:avLst/>
          </a:prstGeom>
          <a:noFill/>
          <a:ln/>
        </p:spPr>
        <p:txBody>
          <a:bodyPr wrap="square" lIns="25400" tIns="25400" rIns="25400" bIns="25400" rtlCol="0" anchor="t">
            <a:normAutofit/>
          </a:bodyPr>
          <a:lstStyle/>
          <a:p>
            <a:pPr algn="l" indent="0" marL="0">
              <a:lnSpc>
                <a:spcPct val="118125"/>
              </a:lnSpc>
              <a:buNone/>
            </a:pPr>
            <a:r>
              <a:rPr lang="en-US" sz="1050" dirty="0">
                <a:solidFill>
                  <a:srgbClr val="FFFFFF">
                    <a:alpha val="70000"/>
                  </a:srgbClr>
                </a:solidFill>
                <a:latin typeface="Arial" pitchFamily="34" charset="0"/>
                <a:ea typeface="Arial" pitchFamily="34" charset="-122"/>
                <a:cs typeface="Arial" pitchFamily="34" charset="-120"/>
              </a:rPr>
              <a:t>Inversión total, Market Maturity Index, mix de medios, top anunciantes.</a:t>
            </a:r>
            <a:endParaRPr lang="en-US" sz="1050" dirty="0"/>
          </a:p>
        </p:txBody>
      </p:sp>
      <p:sp>
        <p:nvSpPr>
          <p:cNvPr id="8" name="Shape 6"/>
          <p:cNvSpPr/>
          <p:nvPr/>
        </p:nvSpPr>
        <p:spPr>
          <a:xfrm>
            <a:off x="3267075" y="1901130"/>
            <a:ext cx="2219325" cy="1843980"/>
          </a:xfrm>
          <a:prstGeom prst="roundRect">
            <a:avLst>
              <a:gd name="adj" fmla="val 4132"/>
            </a:avLst>
          </a:prstGeom>
          <a:solidFill>
            <a:srgbClr val="FFFFFF">
              <a:alpha val="6000"/>
            </a:srgbClr>
          </a:solidFill>
          <a:ln/>
        </p:spPr>
      </p:sp>
      <p:sp>
        <p:nvSpPr>
          <p:cNvPr id="9" name="Shape 7"/>
          <p:cNvSpPr/>
          <p:nvPr/>
        </p:nvSpPr>
        <p:spPr>
          <a:xfrm>
            <a:off x="3267075" y="1901130"/>
            <a:ext cx="38100" cy="1843980"/>
          </a:xfrm>
          <a:prstGeom prst="rect">
            <a:avLst/>
          </a:prstGeom>
          <a:solidFill>
            <a:srgbClr val="C0554A"/>
          </a:solidFill>
          <a:ln/>
        </p:spPr>
      </p:sp>
      <p:sp>
        <p:nvSpPr>
          <p:cNvPr id="10" name="Text 8"/>
          <p:cNvSpPr/>
          <p:nvPr/>
        </p:nvSpPr>
        <p:spPr>
          <a:xfrm>
            <a:off x="3495675" y="2072580"/>
            <a:ext cx="1980248" cy="238125"/>
          </a:xfrm>
          <a:prstGeom prst="rect">
            <a:avLst/>
          </a:prstGeom>
          <a:noFill/>
          <a:ln/>
        </p:spPr>
        <p:txBody>
          <a:bodyPr wrap="square" lIns="25400" tIns="25400" rIns="25400" bIns="25400" rtlCol="0" anchor="t">
            <a:normAutofit/>
          </a:bodyPr>
          <a:lstStyle/>
          <a:p>
            <a:pPr algn="l" indent="0" marL="0">
              <a:buNone/>
            </a:pPr>
            <a:r>
              <a:rPr lang="en-US" sz="1350" b="1" dirty="0">
                <a:solidFill>
                  <a:srgbClr val="FFFFFF"/>
                </a:solidFill>
                <a:latin typeface="Arial" pitchFamily="34" charset="0"/>
                <a:ea typeface="Arial" pitchFamily="34" charset="-122"/>
                <a:cs typeface="Arial" pitchFamily="34" charset="-120"/>
              </a:rPr>
              <a:t>MKT Wheel</a:t>
            </a:r>
            <a:endParaRPr lang="en-US" sz="1350" dirty="0"/>
          </a:p>
        </p:txBody>
      </p:sp>
      <p:sp>
        <p:nvSpPr>
          <p:cNvPr id="11" name="Text 9"/>
          <p:cNvSpPr/>
          <p:nvPr/>
        </p:nvSpPr>
        <p:spPr>
          <a:xfrm>
            <a:off x="3495675" y="2329755"/>
            <a:ext cx="1876425" cy="397966"/>
          </a:xfrm>
          <a:prstGeom prst="rect">
            <a:avLst/>
          </a:prstGeom>
          <a:noFill/>
          <a:ln/>
        </p:spPr>
        <p:txBody>
          <a:bodyPr wrap="square" lIns="25400" tIns="25400" rIns="25400" bIns="25400" rtlCol="0" anchor="t">
            <a:normAutofit/>
          </a:bodyPr>
          <a:lstStyle/>
          <a:p>
            <a:pPr algn="l" indent="0" marL="0">
              <a:lnSpc>
                <a:spcPct val="118125"/>
              </a:lnSpc>
              <a:buNone/>
            </a:pPr>
            <a:r>
              <a:rPr lang="en-US" sz="1050" dirty="0">
                <a:solidFill>
                  <a:srgbClr val="FFFFFF">
                    <a:alpha val="70000"/>
                  </a:srgbClr>
                </a:solidFill>
                <a:latin typeface="Arial" pitchFamily="34" charset="0"/>
                <a:ea typeface="Arial" pitchFamily="34" charset="-122"/>
                <a:cs typeface="Arial" pitchFamily="34" charset="-120"/>
              </a:rPr>
              <a:t>Madurez de marketing por segmento en 5 dimensiones.</a:t>
            </a:r>
            <a:endParaRPr lang="en-US" sz="1050" dirty="0"/>
          </a:p>
        </p:txBody>
      </p:sp>
      <p:sp>
        <p:nvSpPr>
          <p:cNvPr id="12" name="Shape 10"/>
          <p:cNvSpPr/>
          <p:nvPr/>
        </p:nvSpPr>
        <p:spPr>
          <a:xfrm>
            <a:off x="914400" y="3878461"/>
            <a:ext cx="2219325" cy="1844129"/>
          </a:xfrm>
          <a:prstGeom prst="roundRect">
            <a:avLst>
              <a:gd name="adj" fmla="val 4132"/>
            </a:avLst>
          </a:prstGeom>
          <a:solidFill>
            <a:srgbClr val="FFFFFF">
              <a:alpha val="6000"/>
            </a:srgbClr>
          </a:solidFill>
          <a:ln/>
        </p:spPr>
      </p:sp>
      <p:sp>
        <p:nvSpPr>
          <p:cNvPr id="13" name="Shape 11"/>
          <p:cNvSpPr/>
          <p:nvPr/>
        </p:nvSpPr>
        <p:spPr>
          <a:xfrm>
            <a:off x="914400" y="3878461"/>
            <a:ext cx="38100" cy="1844129"/>
          </a:xfrm>
          <a:prstGeom prst="rect">
            <a:avLst/>
          </a:prstGeom>
          <a:solidFill>
            <a:srgbClr val="C0554A"/>
          </a:solidFill>
          <a:ln/>
        </p:spPr>
      </p:sp>
      <p:sp>
        <p:nvSpPr>
          <p:cNvPr id="14" name="Text 12"/>
          <p:cNvSpPr/>
          <p:nvPr/>
        </p:nvSpPr>
        <p:spPr>
          <a:xfrm>
            <a:off x="1143000" y="4049911"/>
            <a:ext cx="1980248" cy="238125"/>
          </a:xfrm>
          <a:prstGeom prst="rect">
            <a:avLst/>
          </a:prstGeom>
          <a:noFill/>
          <a:ln/>
        </p:spPr>
        <p:txBody>
          <a:bodyPr wrap="square" lIns="25400" tIns="25400" rIns="25400" bIns="25400" rtlCol="0" anchor="t">
            <a:normAutofit/>
          </a:bodyPr>
          <a:lstStyle/>
          <a:p>
            <a:pPr algn="l" indent="0" marL="0">
              <a:buNone/>
            </a:pPr>
            <a:r>
              <a:rPr lang="en-US" sz="1350" b="1" dirty="0">
                <a:solidFill>
                  <a:srgbClr val="FFFFFF"/>
                </a:solidFill>
                <a:latin typeface="Arial" pitchFamily="34" charset="0"/>
                <a:ea typeface="Arial" pitchFamily="34" charset="-122"/>
                <a:cs typeface="Arial" pitchFamily="34" charset="-120"/>
              </a:rPr>
              <a:t>Medios</a:t>
            </a:r>
            <a:endParaRPr lang="en-US" sz="1350" dirty="0"/>
          </a:p>
        </p:txBody>
      </p:sp>
      <p:sp>
        <p:nvSpPr>
          <p:cNvPr id="15" name="Text 13"/>
          <p:cNvSpPr/>
          <p:nvPr/>
        </p:nvSpPr>
        <p:spPr>
          <a:xfrm>
            <a:off x="1143000" y="4307086"/>
            <a:ext cx="1876425" cy="397966"/>
          </a:xfrm>
          <a:prstGeom prst="rect">
            <a:avLst/>
          </a:prstGeom>
          <a:noFill/>
          <a:ln/>
        </p:spPr>
        <p:txBody>
          <a:bodyPr wrap="square" lIns="25400" tIns="25400" rIns="25400" bIns="25400" rtlCol="0" anchor="t">
            <a:normAutofit/>
          </a:bodyPr>
          <a:lstStyle/>
          <a:p>
            <a:pPr algn="l" indent="0" marL="0">
              <a:lnSpc>
                <a:spcPct val="118125"/>
              </a:lnSpc>
              <a:buNone/>
            </a:pPr>
            <a:r>
              <a:rPr lang="en-US" sz="1050" dirty="0">
                <a:solidFill>
                  <a:srgbClr val="FFFFFF">
                    <a:alpha val="70000"/>
                  </a:srgbClr>
                </a:solidFill>
                <a:latin typeface="Arial" pitchFamily="34" charset="0"/>
                <a:ea typeface="Arial" pitchFamily="34" charset="-122"/>
                <a:cs typeface="Arial" pitchFamily="34" charset="-120"/>
              </a:rPr>
              <a:t>Inversión por canal, vehículo y cluster de anunciante.</a:t>
            </a:r>
            <a:endParaRPr lang="en-US" sz="1050" dirty="0"/>
          </a:p>
        </p:txBody>
      </p:sp>
      <p:sp>
        <p:nvSpPr>
          <p:cNvPr id="16" name="Shape 14"/>
          <p:cNvSpPr/>
          <p:nvPr/>
        </p:nvSpPr>
        <p:spPr>
          <a:xfrm>
            <a:off x="3267075" y="3878461"/>
            <a:ext cx="2219325" cy="1844129"/>
          </a:xfrm>
          <a:prstGeom prst="roundRect">
            <a:avLst>
              <a:gd name="adj" fmla="val 4132"/>
            </a:avLst>
          </a:prstGeom>
          <a:solidFill>
            <a:srgbClr val="FFFFFF">
              <a:alpha val="6000"/>
            </a:srgbClr>
          </a:solidFill>
          <a:ln/>
        </p:spPr>
      </p:sp>
      <p:sp>
        <p:nvSpPr>
          <p:cNvPr id="17" name="Shape 15"/>
          <p:cNvSpPr/>
          <p:nvPr/>
        </p:nvSpPr>
        <p:spPr>
          <a:xfrm>
            <a:off x="3267075" y="3878461"/>
            <a:ext cx="38100" cy="1844129"/>
          </a:xfrm>
          <a:prstGeom prst="rect">
            <a:avLst/>
          </a:prstGeom>
          <a:solidFill>
            <a:srgbClr val="C0554A"/>
          </a:solidFill>
          <a:ln/>
        </p:spPr>
      </p:sp>
      <p:sp>
        <p:nvSpPr>
          <p:cNvPr id="18" name="Text 16"/>
          <p:cNvSpPr/>
          <p:nvPr/>
        </p:nvSpPr>
        <p:spPr>
          <a:xfrm>
            <a:off x="3495675" y="4049911"/>
            <a:ext cx="1980248" cy="238125"/>
          </a:xfrm>
          <a:prstGeom prst="rect">
            <a:avLst/>
          </a:prstGeom>
          <a:noFill/>
          <a:ln/>
        </p:spPr>
        <p:txBody>
          <a:bodyPr wrap="square" lIns="25400" tIns="25400" rIns="25400" bIns="25400" rtlCol="0" anchor="t">
            <a:normAutofit/>
          </a:bodyPr>
          <a:lstStyle/>
          <a:p>
            <a:pPr algn="l" indent="0" marL="0">
              <a:buNone/>
            </a:pPr>
            <a:r>
              <a:rPr lang="en-US" sz="1350" b="1" dirty="0">
                <a:solidFill>
                  <a:srgbClr val="FFFFFF"/>
                </a:solidFill>
                <a:latin typeface="Arial" pitchFamily="34" charset="0"/>
                <a:ea typeface="Arial" pitchFamily="34" charset="-122"/>
                <a:cs typeface="Arial" pitchFamily="34" charset="-120"/>
              </a:rPr>
              <a:t>Agencias</a:t>
            </a:r>
            <a:endParaRPr lang="en-US" sz="1350" dirty="0"/>
          </a:p>
        </p:txBody>
      </p:sp>
      <p:sp>
        <p:nvSpPr>
          <p:cNvPr id="19" name="Text 17"/>
          <p:cNvSpPr/>
          <p:nvPr/>
        </p:nvSpPr>
        <p:spPr>
          <a:xfrm>
            <a:off x="3495675" y="4307086"/>
            <a:ext cx="1876425" cy="397966"/>
          </a:xfrm>
          <a:prstGeom prst="rect">
            <a:avLst/>
          </a:prstGeom>
          <a:noFill/>
          <a:ln/>
        </p:spPr>
        <p:txBody>
          <a:bodyPr wrap="square" lIns="25400" tIns="25400" rIns="25400" bIns="25400" rtlCol="0" anchor="t">
            <a:normAutofit/>
          </a:bodyPr>
          <a:lstStyle/>
          <a:p>
            <a:pPr algn="l" indent="0" marL="0">
              <a:lnSpc>
                <a:spcPct val="118125"/>
              </a:lnSpc>
              <a:buNone/>
            </a:pPr>
            <a:r>
              <a:rPr lang="en-US" sz="1050" dirty="0">
                <a:solidFill>
                  <a:srgbClr val="FFFFFF">
                    <a:alpha val="70000"/>
                  </a:srgbClr>
                </a:solidFill>
                <a:latin typeface="Arial" pitchFamily="34" charset="0"/>
                <a:ea typeface="Arial" pitchFamily="34" charset="-122"/>
                <a:cs typeface="Arial" pitchFamily="34" charset="-120"/>
              </a:rPr>
              <a:t>Share de mercado por agencia y participación por segmento.</a:t>
            </a:r>
            <a:endParaRPr lang="en-US" sz="1050" dirty="0"/>
          </a:p>
        </p:txBody>
      </p:sp>
      <p:sp>
        <p:nvSpPr>
          <p:cNvPr id="20" name="Shape 18"/>
          <p:cNvSpPr/>
          <p:nvPr/>
        </p:nvSpPr>
        <p:spPr>
          <a:xfrm>
            <a:off x="914400" y="5855940"/>
            <a:ext cx="2219325" cy="1843980"/>
          </a:xfrm>
          <a:prstGeom prst="roundRect">
            <a:avLst>
              <a:gd name="adj" fmla="val 4132"/>
            </a:avLst>
          </a:prstGeom>
          <a:solidFill>
            <a:srgbClr val="FFFFFF">
              <a:alpha val="6000"/>
            </a:srgbClr>
          </a:solidFill>
          <a:ln/>
        </p:spPr>
      </p:sp>
      <p:sp>
        <p:nvSpPr>
          <p:cNvPr id="21" name="Shape 19"/>
          <p:cNvSpPr/>
          <p:nvPr/>
        </p:nvSpPr>
        <p:spPr>
          <a:xfrm>
            <a:off x="914400" y="5855940"/>
            <a:ext cx="38100" cy="1843980"/>
          </a:xfrm>
          <a:prstGeom prst="rect">
            <a:avLst/>
          </a:prstGeom>
          <a:solidFill>
            <a:srgbClr val="66AC97"/>
          </a:solidFill>
          <a:ln/>
        </p:spPr>
      </p:sp>
      <p:sp>
        <p:nvSpPr>
          <p:cNvPr id="22" name="Text 20"/>
          <p:cNvSpPr/>
          <p:nvPr/>
        </p:nvSpPr>
        <p:spPr>
          <a:xfrm>
            <a:off x="1143000" y="6027390"/>
            <a:ext cx="1980248" cy="238125"/>
          </a:xfrm>
          <a:prstGeom prst="rect">
            <a:avLst/>
          </a:prstGeom>
          <a:noFill/>
          <a:ln/>
        </p:spPr>
        <p:txBody>
          <a:bodyPr wrap="square" lIns="25400" tIns="25400" rIns="25400" bIns="25400" rtlCol="0" anchor="t">
            <a:normAutofit/>
          </a:bodyPr>
          <a:lstStyle/>
          <a:p>
            <a:pPr algn="l" indent="0" marL="0">
              <a:buNone/>
            </a:pPr>
            <a:r>
              <a:rPr lang="en-US" sz="1350" b="1" dirty="0">
                <a:solidFill>
                  <a:srgbClr val="FFFFFF"/>
                </a:solidFill>
                <a:latin typeface="Arial" pitchFamily="34" charset="0"/>
                <a:ea typeface="Arial" pitchFamily="34" charset="-122"/>
                <a:cs typeface="Arial" pitchFamily="34" charset="-120"/>
              </a:rPr>
              <a:t>Segmentador</a:t>
            </a:r>
            <a:endParaRPr lang="en-US" sz="1350" dirty="0"/>
          </a:p>
        </p:txBody>
      </p:sp>
      <p:sp>
        <p:nvSpPr>
          <p:cNvPr id="23" name="Text 21"/>
          <p:cNvSpPr/>
          <p:nvPr/>
        </p:nvSpPr>
        <p:spPr>
          <a:xfrm>
            <a:off x="1143000" y="6284565"/>
            <a:ext cx="1876425" cy="577900"/>
          </a:xfrm>
          <a:prstGeom prst="rect">
            <a:avLst/>
          </a:prstGeom>
          <a:noFill/>
          <a:ln/>
        </p:spPr>
        <p:txBody>
          <a:bodyPr wrap="square" lIns="25400" tIns="25400" rIns="25400" bIns="25400" rtlCol="0" anchor="t">
            <a:normAutofit/>
          </a:bodyPr>
          <a:lstStyle/>
          <a:p>
            <a:pPr algn="l" indent="0" marL="0">
              <a:lnSpc>
                <a:spcPct val="118125"/>
              </a:lnSpc>
              <a:buNone/>
            </a:pPr>
            <a:r>
              <a:rPr lang="en-US" sz="1050" dirty="0">
                <a:solidFill>
                  <a:srgbClr val="FFFFFF">
                    <a:alpha val="70000"/>
                  </a:srgbClr>
                </a:solidFill>
                <a:latin typeface="Arial" pitchFamily="34" charset="0"/>
                <a:ea typeface="Arial" pitchFamily="34" charset="-122"/>
                <a:cs typeface="Arial" pitchFamily="34" charset="-120"/>
              </a:rPr>
              <a:t>Filtrá por cualquier combinación de dimensiones, en tiempo real.</a:t>
            </a:r>
            <a:endParaRPr lang="en-US" sz="1050" dirty="0"/>
          </a:p>
        </p:txBody>
      </p:sp>
      <p:sp>
        <p:nvSpPr>
          <p:cNvPr id="24" name="Shape 22"/>
          <p:cNvSpPr/>
          <p:nvPr/>
        </p:nvSpPr>
        <p:spPr>
          <a:xfrm>
            <a:off x="3267075" y="5855940"/>
            <a:ext cx="2219325" cy="1843980"/>
          </a:xfrm>
          <a:prstGeom prst="roundRect">
            <a:avLst>
              <a:gd name="adj" fmla="val 4132"/>
            </a:avLst>
          </a:prstGeom>
          <a:solidFill>
            <a:srgbClr val="FFFFFF">
              <a:alpha val="6000"/>
            </a:srgbClr>
          </a:solidFill>
          <a:ln/>
        </p:spPr>
      </p:sp>
      <p:sp>
        <p:nvSpPr>
          <p:cNvPr id="25" name="Shape 23"/>
          <p:cNvSpPr/>
          <p:nvPr/>
        </p:nvSpPr>
        <p:spPr>
          <a:xfrm>
            <a:off x="3267075" y="5855940"/>
            <a:ext cx="38100" cy="1843980"/>
          </a:xfrm>
          <a:prstGeom prst="rect">
            <a:avLst/>
          </a:prstGeom>
          <a:solidFill>
            <a:srgbClr val="66AC97"/>
          </a:solidFill>
          <a:ln/>
        </p:spPr>
      </p:sp>
      <p:sp>
        <p:nvSpPr>
          <p:cNvPr id="26" name="Text 24"/>
          <p:cNvSpPr/>
          <p:nvPr/>
        </p:nvSpPr>
        <p:spPr>
          <a:xfrm>
            <a:off x="3495675" y="6027390"/>
            <a:ext cx="1980248" cy="238125"/>
          </a:xfrm>
          <a:prstGeom prst="rect">
            <a:avLst/>
          </a:prstGeom>
          <a:noFill/>
          <a:ln/>
        </p:spPr>
        <p:txBody>
          <a:bodyPr wrap="square" lIns="25400" tIns="25400" rIns="25400" bIns="25400" rtlCol="0" anchor="t">
            <a:normAutofit/>
          </a:bodyPr>
          <a:lstStyle/>
          <a:p>
            <a:pPr algn="l" indent="0" marL="0">
              <a:buNone/>
            </a:pPr>
            <a:r>
              <a:rPr lang="en-US" sz="1350" b="1" dirty="0">
                <a:solidFill>
                  <a:srgbClr val="FFFFFF"/>
                </a:solidFill>
                <a:latin typeface="Arial" pitchFamily="34" charset="0"/>
                <a:ea typeface="Arial" pitchFamily="34" charset="-122"/>
                <a:cs typeface="Arial" pitchFamily="34" charset="-120"/>
              </a:rPr>
              <a:t>Termómetro</a:t>
            </a:r>
            <a:endParaRPr lang="en-US" sz="1350" dirty="0"/>
          </a:p>
        </p:txBody>
      </p:sp>
      <p:sp>
        <p:nvSpPr>
          <p:cNvPr id="27" name="Text 25"/>
          <p:cNvSpPr/>
          <p:nvPr/>
        </p:nvSpPr>
        <p:spPr>
          <a:xfrm>
            <a:off x="3495675" y="6284565"/>
            <a:ext cx="1876425" cy="577900"/>
          </a:xfrm>
          <a:prstGeom prst="rect">
            <a:avLst/>
          </a:prstGeom>
          <a:noFill/>
          <a:ln/>
        </p:spPr>
        <p:txBody>
          <a:bodyPr wrap="square" lIns="25400" tIns="25400" rIns="25400" bIns="25400" rtlCol="0" anchor="t">
            <a:normAutofit/>
          </a:bodyPr>
          <a:lstStyle/>
          <a:p>
            <a:pPr algn="l" indent="0" marL="0">
              <a:lnSpc>
                <a:spcPct val="118125"/>
              </a:lnSpc>
              <a:buNone/>
            </a:pPr>
            <a:r>
              <a:rPr lang="en-US" sz="1050" dirty="0">
                <a:solidFill>
                  <a:srgbClr val="FFFFFF">
                    <a:alpha val="70000"/>
                  </a:srgbClr>
                </a:solidFill>
                <a:latin typeface="Arial" pitchFamily="34" charset="0"/>
                <a:ea typeface="Arial" pitchFamily="34" charset="-122"/>
                <a:cs typeface="Arial" pitchFamily="34" charset="-120"/>
              </a:rPr>
              <a:t>Madurez de cualquier anunciante: 5 dimensiones + 21 sub-métricas.</a:t>
            </a:r>
            <a:endParaRPr lang="en-US" sz="1050" dirty="0"/>
          </a:p>
        </p:txBody>
      </p:sp>
      <p:sp>
        <p:nvSpPr>
          <p:cNvPr id="28" name="Shape 26"/>
          <p:cNvSpPr/>
          <p:nvPr/>
        </p:nvSpPr>
        <p:spPr>
          <a:xfrm>
            <a:off x="914400" y="7833271"/>
            <a:ext cx="2219325" cy="1844129"/>
          </a:xfrm>
          <a:prstGeom prst="roundRect">
            <a:avLst>
              <a:gd name="adj" fmla="val 4132"/>
            </a:avLst>
          </a:prstGeom>
          <a:solidFill>
            <a:srgbClr val="FFFFFF">
              <a:alpha val="6000"/>
            </a:srgbClr>
          </a:solidFill>
          <a:ln/>
        </p:spPr>
      </p:sp>
      <p:sp>
        <p:nvSpPr>
          <p:cNvPr id="29" name="Shape 27"/>
          <p:cNvSpPr/>
          <p:nvPr/>
        </p:nvSpPr>
        <p:spPr>
          <a:xfrm>
            <a:off x="914400" y="7833271"/>
            <a:ext cx="38100" cy="1844129"/>
          </a:xfrm>
          <a:prstGeom prst="rect">
            <a:avLst/>
          </a:prstGeom>
          <a:solidFill>
            <a:srgbClr val="66AC97"/>
          </a:solidFill>
          <a:ln/>
        </p:spPr>
      </p:sp>
      <p:sp>
        <p:nvSpPr>
          <p:cNvPr id="30" name="Text 28"/>
          <p:cNvSpPr/>
          <p:nvPr/>
        </p:nvSpPr>
        <p:spPr>
          <a:xfrm>
            <a:off x="1143000" y="8004721"/>
            <a:ext cx="1980248" cy="238125"/>
          </a:xfrm>
          <a:prstGeom prst="rect">
            <a:avLst/>
          </a:prstGeom>
          <a:noFill/>
          <a:ln/>
        </p:spPr>
        <p:txBody>
          <a:bodyPr wrap="square" lIns="25400" tIns="25400" rIns="25400" bIns="25400" rtlCol="0" anchor="t">
            <a:normAutofit/>
          </a:bodyPr>
          <a:lstStyle/>
          <a:p>
            <a:pPr algn="l" indent="0" marL="0">
              <a:buNone/>
            </a:pPr>
            <a:r>
              <a:rPr lang="en-US" sz="1350" b="1" dirty="0">
                <a:solidFill>
                  <a:srgbClr val="FFFFFF"/>
                </a:solidFill>
                <a:latin typeface="Arial" pitchFamily="34" charset="0"/>
                <a:ea typeface="Arial" pitchFamily="34" charset="-122"/>
                <a:cs typeface="Arial" pitchFamily="34" charset="-120"/>
              </a:rPr>
              <a:t>Trade</a:t>
            </a:r>
            <a:endParaRPr lang="en-US" sz="1350" dirty="0"/>
          </a:p>
        </p:txBody>
      </p:sp>
      <p:sp>
        <p:nvSpPr>
          <p:cNvPr id="31" name="Text 29"/>
          <p:cNvSpPr/>
          <p:nvPr/>
        </p:nvSpPr>
        <p:spPr>
          <a:xfrm>
            <a:off x="1143000" y="8261896"/>
            <a:ext cx="1876425" cy="577900"/>
          </a:xfrm>
          <a:prstGeom prst="rect">
            <a:avLst/>
          </a:prstGeom>
          <a:noFill/>
          <a:ln/>
        </p:spPr>
        <p:txBody>
          <a:bodyPr wrap="square" lIns="25400" tIns="25400" rIns="25400" bIns="25400" rtlCol="0" anchor="t">
            <a:normAutofit/>
          </a:bodyPr>
          <a:lstStyle/>
          <a:p>
            <a:pPr algn="l" indent="0" marL="0">
              <a:lnSpc>
                <a:spcPct val="118125"/>
              </a:lnSpc>
              <a:buNone/>
            </a:pPr>
            <a:r>
              <a:rPr lang="en-US" sz="1050" dirty="0">
                <a:solidFill>
                  <a:srgbClr val="FFFFFF">
                    <a:alpha val="70000"/>
                  </a:srgbClr>
                </a:solidFill>
                <a:latin typeface="Arial" pitchFamily="34" charset="0"/>
                <a:ea typeface="Arial" pitchFamily="34" charset="-122"/>
                <a:cs typeface="Arial" pitchFamily="34" charset="-120"/>
              </a:rPr>
              <a:t>Inversión en Punto de Venta por anunciante y agencia trade.</a:t>
            </a:r>
            <a:endParaRPr lang="en-US" sz="1050" dirty="0"/>
          </a:p>
        </p:txBody>
      </p:sp>
      <p:sp>
        <p:nvSpPr>
          <p:cNvPr id="32" name="Shape 30"/>
          <p:cNvSpPr/>
          <p:nvPr/>
        </p:nvSpPr>
        <p:spPr>
          <a:xfrm>
            <a:off x="3267075" y="7833271"/>
            <a:ext cx="2219325" cy="1844129"/>
          </a:xfrm>
          <a:prstGeom prst="roundRect">
            <a:avLst>
              <a:gd name="adj" fmla="val 4132"/>
            </a:avLst>
          </a:prstGeom>
          <a:solidFill>
            <a:srgbClr val="EDC54D"/>
          </a:solidFill>
          <a:ln/>
        </p:spPr>
      </p:sp>
      <p:sp>
        <p:nvSpPr>
          <p:cNvPr id="33" name="Text 31"/>
          <p:cNvSpPr/>
          <p:nvPr/>
        </p:nvSpPr>
        <p:spPr>
          <a:xfrm>
            <a:off x="3457575" y="8398073"/>
            <a:ext cx="1914525" cy="752475"/>
          </a:xfrm>
          <a:prstGeom prst="rect">
            <a:avLst/>
          </a:prstGeom>
          <a:noFill/>
          <a:ln/>
        </p:spPr>
        <p:txBody>
          <a:bodyPr wrap="square" lIns="25400" tIns="25400" rIns="25400" bIns="25400" rtlCol="0" anchor="t">
            <a:normAutofit/>
          </a:bodyPr>
          <a:lstStyle/>
          <a:p>
            <a:pPr algn="l" indent="0" marL="0">
              <a:lnSpc>
                <a:spcPct val="85227"/>
              </a:lnSpc>
              <a:buNone/>
            </a:pPr>
            <a:r>
              <a:rPr lang="en-US" sz="1125" b="1" dirty="0">
                <a:solidFill>
                  <a:srgbClr val="2A4B5B"/>
                </a:solidFill>
                <a:latin typeface="Arial" pitchFamily="34" charset="0"/>
                <a:ea typeface="Arial" pitchFamily="34" charset="-122"/>
                <a:cs typeface="Arial" pitchFamily="34" charset="-120"/>
              </a:rPr>
              <a:t>No es un reporte. Es inteligencia de mercado disponible en cualquier momento.</a:t>
            </a:r>
            <a:endParaRPr lang="en-US" sz="1125" dirty="0"/>
          </a:p>
        </p:txBody>
      </p:sp>
      <p:sp>
        <p:nvSpPr>
          <p:cNvPr id="34" name="Shape 32"/>
          <p:cNvSpPr/>
          <p:nvPr/>
        </p:nvSpPr>
        <p:spPr>
          <a:xfrm>
            <a:off x="5791200" y="1901130"/>
            <a:ext cx="11582400" cy="7776270"/>
          </a:xfrm>
          <a:prstGeom prst="roundRect">
            <a:avLst>
              <a:gd name="adj" fmla="val 1715"/>
            </a:avLst>
          </a:prstGeom>
          <a:solidFill>
            <a:srgbClr val="0E1420"/>
          </a:solidFill>
          <a:ln/>
          <a:effectLst>
            <a:outerShdw sx="100000" sy="100000" kx="0" ky="0" algn="bl" rotWithShape="0" blurRad="571500" dist="228600" dir="5400000">
              <a:srgbClr val="000000">
                <a:alpha val="30000"/>
              </a:srgbClr>
            </a:outerShdw>
          </a:effectLst>
        </p:spPr>
      </p:sp>
      <p:sp>
        <p:nvSpPr>
          <p:cNvPr id="35" name="Shape 33"/>
          <p:cNvSpPr/>
          <p:nvPr/>
        </p:nvSpPr>
        <p:spPr>
          <a:xfrm>
            <a:off x="5791200" y="1901130"/>
            <a:ext cx="11582400" cy="304800"/>
          </a:xfrm>
          <a:prstGeom prst="rect">
            <a:avLst/>
          </a:prstGeom>
          <a:solidFill>
            <a:srgbClr val="1A2233"/>
          </a:solidFill>
          <a:ln/>
        </p:spPr>
      </p:sp>
      <p:sp>
        <p:nvSpPr>
          <p:cNvPr id="36" name="Shape 34"/>
          <p:cNvSpPr/>
          <p:nvPr/>
        </p:nvSpPr>
        <p:spPr>
          <a:xfrm>
            <a:off x="5924550" y="2005905"/>
            <a:ext cx="95250" cy="95250"/>
          </a:xfrm>
          <a:prstGeom prst="ellipse">
            <a:avLst/>
          </a:prstGeom>
          <a:solidFill>
            <a:srgbClr val="C0554A"/>
          </a:solidFill>
          <a:ln/>
        </p:spPr>
      </p:sp>
      <p:sp>
        <p:nvSpPr>
          <p:cNvPr id="37" name="Shape 35"/>
          <p:cNvSpPr/>
          <p:nvPr/>
        </p:nvSpPr>
        <p:spPr>
          <a:xfrm>
            <a:off x="6096000" y="2005905"/>
            <a:ext cx="95250" cy="95250"/>
          </a:xfrm>
          <a:prstGeom prst="ellipse">
            <a:avLst/>
          </a:prstGeom>
          <a:solidFill>
            <a:srgbClr val="EDC54D"/>
          </a:solidFill>
          <a:ln/>
        </p:spPr>
      </p:sp>
      <p:sp>
        <p:nvSpPr>
          <p:cNvPr id="38" name="Shape 36"/>
          <p:cNvSpPr/>
          <p:nvPr/>
        </p:nvSpPr>
        <p:spPr>
          <a:xfrm>
            <a:off x="6267450" y="2005905"/>
            <a:ext cx="95250" cy="95250"/>
          </a:xfrm>
          <a:prstGeom prst="ellipse">
            <a:avLst/>
          </a:prstGeom>
          <a:solidFill>
            <a:srgbClr val="66AC97"/>
          </a:solidFill>
          <a:ln/>
        </p:spPr>
      </p:sp>
      <p:sp>
        <p:nvSpPr>
          <p:cNvPr id="39" name="Shape 37"/>
          <p:cNvSpPr/>
          <p:nvPr/>
        </p:nvSpPr>
        <p:spPr>
          <a:xfrm>
            <a:off x="5791200" y="2205930"/>
            <a:ext cx="11582400" cy="7721501"/>
          </a:xfrm>
          <a:prstGeom prst="rect">
            <a:avLst/>
          </a:prstGeom>
          <a:solidFill>
            <a:srgbClr val="000000">
              <a:alpha val="4000"/>
            </a:srgbClr>
          </a:solidFill>
          <a:ln/>
        </p:spPr>
      </p:sp>
      <p:pic>
        <p:nvPicPr>
          <p:cNvPr id="40" name="Image 0" descr="preencoded.png">    </p:cNvPr>
          <p:cNvPicPr>
            <a:picLocks noChangeAspect="1"/>
          </p:cNvPicPr>
          <p:nvPr/>
        </p:nvPicPr>
        <p:blipFill>
          <a:blip r:embed="rId1"/>
          <a:srcRect l="0" r="0" t="-22132" b="-22132"/>
          <a:stretch/>
        </p:blipFill>
        <p:spPr>
          <a:xfrm>
            <a:off x="5791200" y="2205930"/>
            <a:ext cx="11582400" cy="772150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E"/>
        </a:solidFill>
      </p:bgPr>
    </p:bg>
    <p:spTree>
      <p:nvGrpSpPr>
        <p:cNvPr id="1" name=""/>
        <p:cNvGrpSpPr/>
        <p:nvPr/>
      </p:nvGrpSpPr>
      <p:grpSpPr>
        <a:xfrm>
          <a:off x="0" y="0"/>
          <a:ext cx="0" cy="0"/>
          <a:chOff x="0" y="0"/>
          <a:chExt cx="0" cy="0"/>
        </a:xfrm>
      </p:grpSpPr>
      <p:sp>
        <p:nvSpPr>
          <p:cNvPr id="2" name="Text 0"/>
          <p:cNvSpPr/>
          <p:nvPr/>
        </p:nvSpPr>
        <p:spPr>
          <a:xfrm>
            <a:off x="914400" y="1341090"/>
            <a:ext cx="18105120" cy="30480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C0554A"/>
                </a:solidFill>
                <a:latin typeface="Arial" pitchFamily="34" charset="0"/>
                <a:ea typeface="Arial" pitchFamily="34" charset="-122"/>
                <a:cs typeface="Arial" pitchFamily="34" charset="-120"/>
              </a:rPr>
              <a:t>ESTADO ACTUAL</a:t>
            </a:r>
            <a:endParaRPr lang="en-US" sz="1800" dirty="0"/>
          </a:p>
        </p:txBody>
      </p:sp>
      <p:sp>
        <p:nvSpPr>
          <p:cNvPr id="3" name="Text 1"/>
          <p:cNvSpPr/>
          <p:nvPr/>
        </p:nvSpPr>
        <p:spPr>
          <a:xfrm>
            <a:off x="914400" y="1798290"/>
            <a:ext cx="15716250" cy="708571"/>
          </a:xfrm>
          <a:prstGeom prst="rect">
            <a:avLst/>
          </a:prstGeom>
          <a:noFill/>
          <a:ln/>
        </p:spPr>
        <p:txBody>
          <a:bodyPr wrap="square" lIns="25400" tIns="25400" rIns="25400" bIns="25400" rtlCol="0" anchor="t">
            <a:normAutofit/>
          </a:bodyPr>
          <a:lstStyle/>
          <a:p>
            <a:pPr algn="l" indent="0" marL="0">
              <a:lnSpc>
                <a:spcPct val="95135"/>
              </a:lnSpc>
              <a:buNone/>
            </a:pPr>
            <a:r>
              <a:rPr lang="en-US" sz="4800" b="1" dirty="0">
                <a:solidFill>
                  <a:srgbClr val="2A4B5B"/>
                </a:solidFill>
                <a:latin typeface="Arial" pitchFamily="34" charset="0"/>
                <a:ea typeface="Arial" pitchFamily="34" charset="-122"/>
                <a:cs typeface="Arial" pitchFamily="34" charset="-120"/>
              </a:rPr>
              <a:t>Tres capas operativas. Una sola plataforma.</a:t>
            </a:r>
            <a:endParaRPr lang="en-US" sz="4800" dirty="0"/>
          </a:p>
        </p:txBody>
      </p:sp>
      <p:sp>
        <p:nvSpPr>
          <p:cNvPr id="4" name="Shape 2"/>
          <p:cNvSpPr/>
          <p:nvPr/>
        </p:nvSpPr>
        <p:spPr>
          <a:xfrm>
            <a:off x="914400" y="3002161"/>
            <a:ext cx="16459200" cy="914400"/>
          </a:xfrm>
          <a:prstGeom prst="roundRect">
            <a:avLst>
              <a:gd name="adj" fmla="val 8333"/>
            </a:avLst>
          </a:prstGeom>
          <a:solidFill>
            <a:srgbClr val="FFFFFF"/>
          </a:solidFill>
          <a:ln/>
        </p:spPr>
      </p:sp>
      <p:sp>
        <p:nvSpPr>
          <p:cNvPr id="5" name="Shape 3"/>
          <p:cNvSpPr/>
          <p:nvPr/>
        </p:nvSpPr>
        <p:spPr>
          <a:xfrm>
            <a:off x="914400" y="3002161"/>
            <a:ext cx="76200" cy="914400"/>
          </a:xfrm>
          <a:prstGeom prst="rect">
            <a:avLst/>
          </a:prstGeom>
          <a:solidFill>
            <a:srgbClr val="66AC97"/>
          </a:solidFill>
          <a:ln/>
        </p:spPr>
      </p:sp>
      <p:sp>
        <p:nvSpPr>
          <p:cNvPr id="6" name="Text 4"/>
          <p:cNvSpPr/>
          <p:nvPr/>
        </p:nvSpPr>
        <p:spPr>
          <a:xfrm>
            <a:off x="1333500" y="3268861"/>
            <a:ext cx="468660" cy="419100"/>
          </a:xfrm>
          <a:prstGeom prst="rect">
            <a:avLst/>
          </a:prstGeom>
          <a:noFill/>
          <a:ln/>
        </p:spPr>
        <p:txBody>
          <a:bodyPr wrap="square" lIns="25400" tIns="25400" rIns="25400" bIns="25400" rtlCol="0" anchor="t">
            <a:normAutofit/>
          </a:bodyPr>
          <a:lstStyle/>
          <a:p>
            <a:pPr algn="l" indent="0" marL="0">
              <a:buNone/>
            </a:pPr>
            <a:r>
              <a:rPr lang="en-US" sz="2250" dirty="0">
                <a:solidFill>
                  <a:srgbClr val="FFFFFF"/>
                </a:solidFill>
                <a:latin typeface="Arial" pitchFamily="34" charset="0"/>
                <a:ea typeface="Arial" pitchFamily="34" charset="-122"/>
                <a:cs typeface="Arial" pitchFamily="34" charset="-120"/>
              </a:rPr>
              <a:t>✅</a:t>
            </a:r>
            <a:endParaRPr lang="en-US" sz="2250" dirty="0"/>
          </a:p>
        </p:txBody>
      </p:sp>
      <p:sp>
        <p:nvSpPr>
          <p:cNvPr id="7" name="Text 5"/>
          <p:cNvSpPr/>
          <p:nvPr/>
        </p:nvSpPr>
        <p:spPr>
          <a:xfrm>
            <a:off x="1954560" y="3302198"/>
            <a:ext cx="6784345" cy="352425"/>
          </a:xfrm>
          <a:prstGeom prst="rect">
            <a:avLst/>
          </a:prstGeom>
          <a:noFill/>
          <a:ln/>
        </p:spPr>
        <p:txBody>
          <a:bodyPr wrap="square" lIns="25400" tIns="25400" rIns="25400" bIns="25400" rtlCol="0" anchor="t">
            <a:normAutofit/>
          </a:bodyPr>
          <a:lstStyle/>
          <a:p>
            <a:pPr algn="l" indent="0" marL="0">
              <a:buNone/>
            </a:pPr>
            <a:r>
              <a:rPr lang="en-US" sz="1950" b="1" dirty="0">
                <a:solidFill>
                  <a:srgbClr val="2A4B5B"/>
                </a:solidFill>
                <a:latin typeface="Arial" pitchFamily="34" charset="0"/>
                <a:ea typeface="Arial" pitchFamily="34" charset="-122"/>
                <a:cs typeface="Arial" pitchFamily="34" charset="-120"/>
              </a:rPr>
              <a:t>Capa 01 · Salud Financiera </a:t>
            </a:r>
            <a:pPr algn="l" indent="0" marL="0">
              <a:buNone/>
            </a:pPr>
            <a:r>
              <a:rPr lang="en-US" sz="1950" dirty="0">
                <a:solidFill>
                  <a:srgbClr val="2A4B5B"/>
                </a:solidFill>
                <a:latin typeface="Arial" pitchFamily="34" charset="0"/>
                <a:ea typeface="Arial" pitchFamily="34" charset="-122"/>
                <a:cs typeface="Arial" pitchFamily="34" charset="-120"/>
              </a:rPr>
              <a:t>— El holding se ve a sí mismo.</a:t>
            </a:r>
            <a:endParaRPr lang="en-US" sz="1950" dirty="0"/>
          </a:p>
        </p:txBody>
      </p:sp>
      <p:sp>
        <p:nvSpPr>
          <p:cNvPr id="8" name="Shape 6"/>
          <p:cNvSpPr/>
          <p:nvPr/>
        </p:nvSpPr>
        <p:spPr>
          <a:xfrm>
            <a:off x="914400" y="4107061"/>
            <a:ext cx="16459200" cy="914400"/>
          </a:xfrm>
          <a:prstGeom prst="roundRect">
            <a:avLst>
              <a:gd name="adj" fmla="val 8333"/>
            </a:avLst>
          </a:prstGeom>
          <a:solidFill>
            <a:srgbClr val="FFFFFF"/>
          </a:solidFill>
          <a:ln/>
        </p:spPr>
      </p:sp>
      <p:sp>
        <p:nvSpPr>
          <p:cNvPr id="9" name="Shape 7"/>
          <p:cNvSpPr/>
          <p:nvPr/>
        </p:nvSpPr>
        <p:spPr>
          <a:xfrm>
            <a:off x="914400" y="4107061"/>
            <a:ext cx="76200" cy="914400"/>
          </a:xfrm>
          <a:prstGeom prst="rect">
            <a:avLst/>
          </a:prstGeom>
          <a:solidFill>
            <a:srgbClr val="EDC54D"/>
          </a:solidFill>
          <a:ln/>
        </p:spPr>
      </p:sp>
      <p:sp>
        <p:nvSpPr>
          <p:cNvPr id="10" name="Text 8"/>
          <p:cNvSpPr/>
          <p:nvPr/>
        </p:nvSpPr>
        <p:spPr>
          <a:xfrm>
            <a:off x="1333500" y="4373761"/>
            <a:ext cx="468660" cy="419100"/>
          </a:xfrm>
          <a:prstGeom prst="rect">
            <a:avLst/>
          </a:prstGeom>
          <a:noFill/>
          <a:ln/>
        </p:spPr>
        <p:txBody>
          <a:bodyPr wrap="square" lIns="25400" tIns="25400" rIns="25400" bIns="25400" rtlCol="0" anchor="t">
            <a:normAutofit/>
          </a:bodyPr>
          <a:lstStyle/>
          <a:p>
            <a:pPr algn="l" indent="0" marL="0">
              <a:buNone/>
            </a:pPr>
            <a:r>
              <a:rPr lang="en-US" sz="2250" dirty="0">
                <a:solidFill>
                  <a:srgbClr val="FFFFFF"/>
                </a:solidFill>
                <a:latin typeface="Arial" pitchFamily="34" charset="0"/>
                <a:ea typeface="Arial" pitchFamily="34" charset="-122"/>
                <a:cs typeface="Arial" pitchFamily="34" charset="-120"/>
              </a:rPr>
              <a:t>✅</a:t>
            </a:r>
            <a:endParaRPr lang="en-US" sz="2250" dirty="0"/>
          </a:p>
        </p:txBody>
      </p:sp>
      <p:sp>
        <p:nvSpPr>
          <p:cNvPr id="11" name="Text 9"/>
          <p:cNvSpPr/>
          <p:nvPr/>
        </p:nvSpPr>
        <p:spPr>
          <a:xfrm>
            <a:off x="1954560" y="4407098"/>
            <a:ext cx="7440826" cy="352425"/>
          </a:xfrm>
          <a:prstGeom prst="rect">
            <a:avLst/>
          </a:prstGeom>
          <a:noFill/>
          <a:ln/>
        </p:spPr>
        <p:txBody>
          <a:bodyPr wrap="square" lIns="25400" tIns="25400" rIns="25400" bIns="25400" rtlCol="0" anchor="t">
            <a:normAutofit/>
          </a:bodyPr>
          <a:lstStyle/>
          <a:p>
            <a:pPr algn="l" indent="0" marL="0">
              <a:buNone/>
            </a:pPr>
            <a:r>
              <a:rPr lang="en-US" sz="1950" b="1" dirty="0">
                <a:solidFill>
                  <a:srgbClr val="2A4B5B"/>
                </a:solidFill>
                <a:latin typeface="Arial" pitchFamily="34" charset="0"/>
                <a:ea typeface="Arial" pitchFamily="34" charset="-122"/>
                <a:cs typeface="Arial" pitchFamily="34" charset="-120"/>
              </a:rPr>
              <a:t>Capa 02 · Inteligencia de Marketing </a:t>
            </a:r>
            <a:pPr algn="l" indent="0" marL="0">
              <a:buNone/>
            </a:pPr>
            <a:r>
              <a:rPr lang="en-US" sz="1950" dirty="0">
                <a:solidFill>
                  <a:srgbClr val="2A4B5B"/>
                </a:solidFill>
                <a:latin typeface="Arial" pitchFamily="34" charset="0"/>
                <a:ea typeface="Arial" pitchFamily="34" charset="-122"/>
                <a:cs typeface="Arial" pitchFamily="34" charset="-120"/>
              </a:rPr>
              <a:t>— El grupo lee el mercado.</a:t>
            </a:r>
            <a:endParaRPr lang="en-US" sz="1950" dirty="0"/>
          </a:p>
        </p:txBody>
      </p:sp>
      <p:sp>
        <p:nvSpPr>
          <p:cNvPr id="12" name="Shape 10"/>
          <p:cNvSpPr/>
          <p:nvPr/>
        </p:nvSpPr>
        <p:spPr>
          <a:xfrm>
            <a:off x="914400" y="5211961"/>
            <a:ext cx="16459200" cy="914400"/>
          </a:xfrm>
          <a:prstGeom prst="roundRect">
            <a:avLst>
              <a:gd name="adj" fmla="val 8333"/>
            </a:avLst>
          </a:prstGeom>
          <a:solidFill>
            <a:srgbClr val="FFFFFF"/>
          </a:solidFill>
          <a:ln/>
        </p:spPr>
      </p:sp>
      <p:sp>
        <p:nvSpPr>
          <p:cNvPr id="13" name="Shape 11"/>
          <p:cNvSpPr/>
          <p:nvPr/>
        </p:nvSpPr>
        <p:spPr>
          <a:xfrm>
            <a:off x="914400" y="5211961"/>
            <a:ext cx="76200" cy="914400"/>
          </a:xfrm>
          <a:prstGeom prst="rect">
            <a:avLst/>
          </a:prstGeom>
          <a:solidFill>
            <a:srgbClr val="C0554A"/>
          </a:solidFill>
          <a:ln/>
        </p:spPr>
      </p:sp>
      <p:sp>
        <p:nvSpPr>
          <p:cNvPr id="14" name="Text 12"/>
          <p:cNvSpPr/>
          <p:nvPr/>
        </p:nvSpPr>
        <p:spPr>
          <a:xfrm>
            <a:off x="1333500" y="5478661"/>
            <a:ext cx="468660" cy="419100"/>
          </a:xfrm>
          <a:prstGeom prst="rect">
            <a:avLst/>
          </a:prstGeom>
          <a:noFill/>
          <a:ln/>
        </p:spPr>
        <p:txBody>
          <a:bodyPr wrap="square" lIns="25400" tIns="25400" rIns="25400" bIns="25400" rtlCol="0" anchor="t">
            <a:normAutofit/>
          </a:bodyPr>
          <a:lstStyle/>
          <a:p>
            <a:pPr algn="l" indent="0" marL="0">
              <a:buNone/>
            </a:pPr>
            <a:r>
              <a:rPr lang="en-US" sz="2250" dirty="0">
                <a:solidFill>
                  <a:srgbClr val="FFFFFF"/>
                </a:solidFill>
                <a:latin typeface="Arial" pitchFamily="34" charset="0"/>
                <a:ea typeface="Arial" pitchFamily="34" charset="-122"/>
                <a:cs typeface="Arial" pitchFamily="34" charset="-120"/>
              </a:rPr>
              <a:t>✅</a:t>
            </a:r>
            <a:endParaRPr lang="en-US" sz="2250" dirty="0"/>
          </a:p>
        </p:txBody>
      </p:sp>
      <p:sp>
        <p:nvSpPr>
          <p:cNvPr id="15" name="Text 13"/>
          <p:cNvSpPr/>
          <p:nvPr/>
        </p:nvSpPr>
        <p:spPr>
          <a:xfrm>
            <a:off x="1954560" y="5511998"/>
            <a:ext cx="7059216" cy="352425"/>
          </a:xfrm>
          <a:prstGeom prst="rect">
            <a:avLst/>
          </a:prstGeom>
          <a:noFill/>
          <a:ln/>
        </p:spPr>
        <p:txBody>
          <a:bodyPr wrap="square" lIns="25400" tIns="25400" rIns="25400" bIns="25400" rtlCol="0" anchor="t">
            <a:normAutofit/>
          </a:bodyPr>
          <a:lstStyle/>
          <a:p>
            <a:pPr algn="l" indent="0" marL="0">
              <a:buNone/>
            </a:pPr>
            <a:r>
              <a:rPr lang="en-US" sz="1950" b="1" dirty="0">
                <a:solidFill>
                  <a:srgbClr val="2A4B5B"/>
                </a:solidFill>
                <a:latin typeface="Arial" pitchFamily="34" charset="0"/>
                <a:ea typeface="Arial" pitchFamily="34" charset="-122"/>
                <a:cs typeface="Arial" pitchFamily="34" charset="-120"/>
              </a:rPr>
              <a:t>Capa 03 · AdLens </a:t>
            </a:r>
            <a:pPr algn="l" indent="0" marL="0">
              <a:buNone/>
            </a:pPr>
            <a:r>
              <a:rPr lang="en-US" sz="1950" dirty="0">
                <a:solidFill>
                  <a:srgbClr val="2A4B5B"/>
                </a:solidFill>
                <a:latin typeface="Arial" pitchFamily="34" charset="0"/>
                <a:ea typeface="Arial" pitchFamily="34" charset="-122"/>
                <a:cs typeface="Arial" pitchFamily="34" charset="-120"/>
              </a:rPr>
              <a:t>— El mercado publicitario en tiempo real.</a:t>
            </a:r>
            <a:endParaRPr lang="en-US" sz="1950" dirty="0"/>
          </a:p>
        </p:txBody>
      </p:sp>
      <p:sp>
        <p:nvSpPr>
          <p:cNvPr id="16" name="Text 14"/>
          <p:cNvSpPr/>
          <p:nvPr/>
        </p:nvSpPr>
        <p:spPr>
          <a:xfrm>
            <a:off x="914400" y="7455098"/>
            <a:ext cx="6239637" cy="733425"/>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2A4B5B"/>
                </a:solidFill>
                <a:latin typeface="Arial" pitchFamily="34" charset="0"/>
                <a:ea typeface="Arial" pitchFamily="34" charset="-122"/>
                <a:cs typeface="Arial" pitchFamily="34" charset="-120"/>
              </a:rPr>
              <a:t>Disponible ahora en </a:t>
            </a:r>
            <a:pPr algn="l" indent="0" marL="0">
              <a:lnSpc>
                <a:spcPct val="128571"/>
              </a:lnSpc>
              <a:buNone/>
            </a:pPr>
            <a:r>
              <a:rPr lang="en-US" sz="1800" b="1" dirty="0">
                <a:solidFill>
                  <a:srgbClr val="C0554A"/>
                </a:solidFill>
                <a:latin typeface="Arial" pitchFamily="34" charset="0"/>
                <a:ea typeface="Arial" pitchFamily="34" charset="-122"/>
                <a:cs typeface="Arial" pitchFamily="34" charset="-120"/>
              </a:rPr>
              <a:t>texo-as-a-service.vercel.app </a:t>
            </a:r>
            <a:pPr algn="l" indent="0" marL="0">
              <a:lnSpc>
                <a:spcPct val="128571"/>
              </a:lnSpc>
              <a:buNone/>
            </a:pPr>
            <a:r>
              <a:rPr lang="en-US" sz="1575" dirty="0">
                <a:solidFill>
                  <a:srgbClr val="2A4B5B"/>
                </a:solidFill>
                <a:latin typeface="Arial" pitchFamily="34" charset="0"/>
                <a:ea typeface="Arial" pitchFamily="34" charset="-122"/>
                <a:cs typeface="Arial" pitchFamily="34" charset="-120"/>
              </a:rPr>
              <a:t>Sin instalación. Sin planillas. Sin depender de que alguien lo interprete.</a:t>
            </a:r>
            <a:endParaRPr lang="en-US" sz="1800" dirty="0"/>
          </a:p>
        </p:txBody>
      </p:sp>
      <p:sp>
        <p:nvSpPr>
          <p:cNvPr id="17" name="Shape 15"/>
          <p:cNvSpPr/>
          <p:nvPr/>
        </p:nvSpPr>
        <p:spPr>
          <a:xfrm>
            <a:off x="13849350" y="6659761"/>
            <a:ext cx="2286000" cy="2286000"/>
          </a:xfrm>
          <a:prstGeom prst="roundRect">
            <a:avLst>
              <a:gd name="adj" fmla="val 5000"/>
            </a:avLst>
          </a:prstGeom>
          <a:solidFill>
            <a:srgbClr val="FFFFFF"/>
          </a:solidFill>
          <a:ln w="9525">
            <a:solidFill>
              <a:srgbClr val="2A4B5B">
                <a:alpha val="15000"/>
              </a:srgbClr>
            </a:solidFill>
            <a:prstDash val="solid"/>
          </a:ln>
        </p:spPr>
      </p:sp>
      <p:pic>
        <p:nvPicPr>
          <p:cNvPr id="18" name="Image 0" descr="preencoded.png">    </p:cNvPr>
          <p:cNvPicPr>
            <a:picLocks noChangeAspect="1"/>
          </p:cNvPicPr>
          <p:nvPr/>
        </p:nvPicPr>
        <p:blipFill>
          <a:blip r:embed="rId1"/>
          <a:stretch>
            <a:fillRect/>
          </a:stretch>
        </p:blipFill>
        <p:spPr>
          <a:xfrm>
            <a:off x="13849350" y="6659761"/>
            <a:ext cx="2286000" cy="2286000"/>
          </a:xfrm>
          <a:prstGeom prst="rect">
            <a:avLst/>
          </a:prstGeom>
        </p:spPr>
      </p:pic>
      <p:sp>
        <p:nvSpPr>
          <p:cNvPr id="19" name="Text 16"/>
          <p:cNvSpPr/>
          <p:nvPr/>
        </p:nvSpPr>
        <p:spPr>
          <a:xfrm>
            <a:off x="16325850" y="7416998"/>
            <a:ext cx="1123950" cy="809625"/>
          </a:xfrm>
          <a:prstGeom prst="rect">
            <a:avLst/>
          </a:prstGeom>
          <a:noFill/>
          <a:ln/>
        </p:spPr>
        <p:txBody>
          <a:bodyPr wrap="square" lIns="25400" tIns="25400" rIns="25400" bIns="25400" rtlCol="0" anchor="t">
            <a:normAutofit/>
          </a:bodyPr>
          <a:lstStyle/>
          <a:p>
            <a:pPr algn="l" indent="0" marL="0">
              <a:lnSpc>
                <a:spcPct val="117391"/>
              </a:lnSpc>
              <a:buNone/>
            </a:pPr>
            <a:r>
              <a:rPr lang="en-US" sz="1500" spc="90" kern="0" dirty="0">
                <a:solidFill>
                  <a:srgbClr val="2A4B5B">
                    <a:alpha val="70000"/>
                  </a:srgbClr>
                </a:solidFill>
                <a:latin typeface="Arial" pitchFamily="34" charset="0"/>
                <a:ea typeface="Arial" pitchFamily="34" charset="-122"/>
                <a:cs typeface="Arial" pitchFamily="34" charset="-120"/>
              </a:rPr>
              <a:t>ESCANEÁ PARA ACCEDER</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A4B5B"/>
        </a:solidFill>
      </p:bgPr>
    </p:bg>
    <p:spTree>
      <p:nvGrpSpPr>
        <p:cNvPr id="1" name=""/>
        <p:cNvGrpSpPr/>
        <p:nvPr/>
      </p:nvGrpSpPr>
      <p:grpSpPr>
        <a:xfrm>
          <a:off x="0" y="0"/>
          <a:ext cx="0" cy="0"/>
          <a:chOff x="0" y="0"/>
          <a:chExt cx="0" cy="0"/>
        </a:xfrm>
      </p:grpSpPr>
      <p:sp>
        <p:nvSpPr>
          <p:cNvPr id="2" name="Shape 0"/>
          <p:cNvSpPr/>
          <p:nvPr/>
        </p:nvSpPr>
        <p:spPr>
          <a:xfrm>
            <a:off x="6086475" y="0"/>
            <a:ext cx="9525" cy="10287000"/>
          </a:xfrm>
          <a:prstGeom prst="rect">
            <a:avLst/>
          </a:prstGeom>
          <a:solidFill>
            <a:srgbClr val="FFFFFF">
              <a:alpha val="12000"/>
            </a:srgbClr>
          </a:solidFill>
          <a:ln/>
        </p:spPr>
        <p:txBody>
          <a:bodyPr/>
          <a:p/>
        </p:txBody>
      </p:sp>
      <p:sp>
        <p:nvSpPr>
          <p:cNvPr id="3" name="Text 1"/>
          <p:cNvSpPr/>
          <p:nvPr/>
        </p:nvSpPr>
        <p:spPr>
          <a:xfrm>
            <a:off x="609600" y="685800"/>
            <a:ext cx="5354003" cy="30480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EDC54D"/>
                </a:solidFill>
                <a:latin typeface="Arial" pitchFamily="34" charset="0"/>
                <a:ea typeface="Arial" pitchFamily="34" charset="-122"/>
                <a:cs typeface="Arial" pitchFamily="34" charset="-120"/>
              </a:rPr>
              <a:t>QUÉ SIGUE</a:t>
            </a:r>
            <a:endParaRPr lang="en-US" sz="1800" dirty="0"/>
          </a:p>
        </p:txBody>
      </p:sp>
      <p:sp>
        <p:nvSpPr>
          <p:cNvPr id="4" name="Text 2"/>
          <p:cNvSpPr/>
          <p:nvPr/>
        </p:nvSpPr>
        <p:spPr>
          <a:xfrm>
            <a:off x="609600" y="1143000"/>
            <a:ext cx="5354003" cy="582811"/>
          </a:xfrm>
          <a:prstGeom prst="rect">
            <a:avLst/>
          </a:prstGeom>
          <a:noFill/>
          <a:ln/>
        </p:spPr>
        <p:txBody>
          <a:bodyPr wrap="square" lIns="25400" tIns="25400" rIns="25400" bIns="25400" rtlCol="0" anchor="t">
            <a:normAutofit/>
          </a:bodyPr>
          <a:lstStyle/>
          <a:p>
            <a:pPr algn="l" indent="0" marL="0">
              <a:lnSpc>
                <a:spcPct val="95333"/>
              </a:lnSpc>
              <a:buNone/>
            </a:pPr>
            <a:r>
              <a:rPr lang="en-US" sz="3900" b="1" dirty="0">
                <a:solidFill>
                  <a:srgbClr val="FFFFFF"/>
                </a:solidFill>
                <a:latin typeface="Arial" pitchFamily="34" charset="0"/>
                <a:ea typeface="Arial" pitchFamily="34" charset="-122"/>
                <a:cs typeface="Arial" pitchFamily="34" charset="-120"/>
              </a:rPr>
              <a:t>Completar el mapa</a:t>
            </a:r>
            <a:endParaRPr lang="en-US" sz="3900" dirty="0"/>
          </a:p>
        </p:txBody>
      </p:sp>
      <p:sp>
        <p:nvSpPr>
          <p:cNvPr id="5" name="Text 3"/>
          <p:cNvSpPr/>
          <p:nvPr/>
        </p:nvSpPr>
        <p:spPr>
          <a:xfrm>
            <a:off x="609600" y="1954411"/>
            <a:ext cx="5013293" cy="658118"/>
          </a:xfrm>
          <a:prstGeom prst="rect">
            <a:avLst/>
          </a:prstGeom>
          <a:noFill/>
          <a:ln/>
        </p:spPr>
        <p:txBody>
          <a:bodyPr wrap="square" lIns="25400" tIns="25400" rIns="25400" bIns="25400" rtlCol="0" anchor="t">
            <a:normAutofit/>
          </a:bodyPr>
          <a:lstStyle/>
          <a:p>
            <a:pPr algn="l" indent="0" marL="0">
              <a:lnSpc>
                <a:spcPct val="135625"/>
              </a:lnSpc>
              <a:buNone/>
            </a:pPr>
            <a:r>
              <a:rPr lang="en-US" sz="1575" dirty="0">
                <a:solidFill>
                  <a:srgbClr val="FFFFFF">
                    <a:alpha val="80000"/>
                  </a:srgbClr>
                </a:solidFill>
                <a:latin typeface="Arial" pitchFamily="34" charset="0"/>
                <a:ea typeface="Arial" pitchFamily="34" charset="-122"/>
                <a:cs typeface="Arial" pitchFamily="34" charset="-120"/>
              </a:rPr>
              <a:t>Las capas de mayor impacto ya están construidas y funcionando. Queda una por resolver.</a:t>
            </a:r>
            <a:endParaRPr lang="en-US" sz="1575" dirty="0"/>
          </a:p>
        </p:txBody>
      </p:sp>
      <p:sp>
        <p:nvSpPr>
          <p:cNvPr id="6" name="Text 4"/>
          <p:cNvSpPr/>
          <p:nvPr/>
        </p:nvSpPr>
        <p:spPr>
          <a:xfrm>
            <a:off x="609600" y="2917329"/>
            <a:ext cx="39007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075879" y="2917329"/>
            <a:ext cx="4533026" cy="687586"/>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FFFFFF"/>
                </a:solidFill>
                <a:latin typeface="Arial" pitchFamily="34" charset="0"/>
                <a:ea typeface="Arial" pitchFamily="34" charset="-122"/>
                <a:cs typeface="Arial" pitchFamily="34" charset="-120"/>
              </a:rPr>
              <a:t>Capa 02 · Datos Macro del Mercado </a:t>
            </a:r>
            <a:pPr algn="l" indent="0" marL="0">
              <a:lnSpc>
                <a:spcPct val="120000"/>
              </a:lnSpc>
              <a:buNone/>
            </a:pPr>
            <a:r>
              <a:rPr lang="en-US" sz="1800" dirty="0">
                <a:solidFill>
                  <a:srgbClr val="FFFFFF"/>
                </a:solidFill>
                <a:latin typeface="Arial" pitchFamily="34" charset="0"/>
                <a:ea typeface="Arial" pitchFamily="34" charset="-122"/>
                <a:cs typeface="Arial" pitchFamily="34" charset="-120"/>
              </a:rPr>
              <a:t>(AdLens) — segmentación, K-means, PCA.</a:t>
            </a:r>
            <a:endParaRPr lang="en-US" sz="1800" dirty="0"/>
          </a:p>
        </p:txBody>
      </p:sp>
      <p:sp>
        <p:nvSpPr>
          <p:cNvPr id="8" name="Text 6"/>
          <p:cNvSpPr/>
          <p:nvPr/>
        </p:nvSpPr>
        <p:spPr>
          <a:xfrm>
            <a:off x="609600" y="3719215"/>
            <a:ext cx="39007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1075879" y="3719215"/>
            <a:ext cx="4533026" cy="697111"/>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FFFFFF"/>
                </a:solidFill>
                <a:latin typeface="Arial" pitchFamily="34" charset="0"/>
                <a:ea typeface="Arial" pitchFamily="34" charset="-122"/>
                <a:cs typeface="Arial" pitchFamily="34" charset="-120"/>
              </a:rPr>
              <a:t>Capa 04 · Facturación y Posicionamiento de Texo </a:t>
            </a:r>
            <a:pPr algn="l" indent="0" marL="0">
              <a:lnSpc>
                <a:spcPct val="120000"/>
              </a:lnSpc>
              <a:buNone/>
            </a:pPr>
            <a:r>
              <a:rPr lang="en-US" sz="1800" dirty="0">
                <a:solidFill>
                  <a:srgbClr val="FFFFFF"/>
                </a:solidFill>
                <a:latin typeface="Arial" pitchFamily="34" charset="0"/>
                <a:ea typeface="Arial" pitchFamily="34" charset="-122"/>
                <a:cs typeface="Arial" pitchFamily="34" charset="-120"/>
              </a:rPr>
              <a:t>— salud financiera del holding.</a:t>
            </a:r>
            <a:endParaRPr lang="en-US" sz="1800" dirty="0"/>
          </a:p>
        </p:txBody>
      </p:sp>
      <p:sp>
        <p:nvSpPr>
          <p:cNvPr id="10" name="Text 8"/>
          <p:cNvSpPr/>
          <p:nvPr/>
        </p:nvSpPr>
        <p:spPr>
          <a:xfrm>
            <a:off x="6705600" y="3235672"/>
            <a:ext cx="12070080" cy="257175"/>
          </a:xfrm>
          <a:prstGeom prst="rect">
            <a:avLst/>
          </a:prstGeom>
          <a:noFill/>
          <a:ln/>
        </p:spPr>
        <p:txBody>
          <a:bodyPr wrap="square" lIns="25400" tIns="25400" rIns="25400" bIns="25400" rtlCol="0" anchor="t">
            <a:normAutofit/>
          </a:bodyPr>
          <a:lstStyle/>
          <a:p>
            <a:pPr algn="l" indent="0" marL="0">
              <a:buNone/>
            </a:pPr>
            <a:r>
              <a:rPr lang="en-US" sz="1500" b="1" spc="150" kern="0" dirty="0">
                <a:solidFill>
                  <a:srgbClr val="C0554A"/>
                </a:solidFill>
                <a:latin typeface="Arial" pitchFamily="34" charset="0"/>
                <a:ea typeface="Arial" pitchFamily="34" charset="-122"/>
                <a:cs typeface="Arial" pitchFamily="34" charset="-120"/>
              </a:rPr>
              <a:t>EL PRÓXIMO DESAFÍO</a:t>
            </a:r>
            <a:endParaRPr lang="en-US" sz="1500" dirty="0"/>
          </a:p>
        </p:txBody>
      </p:sp>
      <p:sp>
        <p:nvSpPr>
          <p:cNvPr id="11" name="Text 9"/>
          <p:cNvSpPr/>
          <p:nvPr/>
        </p:nvSpPr>
        <p:spPr>
          <a:xfrm>
            <a:off x="6705600" y="3569047"/>
            <a:ext cx="12070080" cy="472380"/>
          </a:xfrm>
          <a:prstGeom prst="rect">
            <a:avLst/>
          </a:prstGeom>
          <a:noFill/>
          <a:ln/>
        </p:spPr>
        <p:txBody>
          <a:bodyPr wrap="square" lIns="25400" tIns="25400" rIns="25400" bIns="25400" rtlCol="0" anchor="t">
            <a:normAutofit/>
          </a:bodyPr>
          <a:lstStyle/>
          <a:p>
            <a:pPr algn="l" indent="0" marL="0">
              <a:lnSpc>
                <a:spcPct val="106047"/>
              </a:lnSpc>
              <a:buNone/>
            </a:pPr>
            <a:r>
              <a:rPr lang="en-US" sz="2850" b="1" dirty="0">
                <a:solidFill>
                  <a:srgbClr val="FFFFFF"/>
                </a:solidFill>
                <a:latin typeface="Arial" pitchFamily="34" charset="0"/>
                <a:ea typeface="Arial" pitchFamily="34" charset="-122"/>
                <a:cs typeface="Arial" pitchFamily="34" charset="-120"/>
              </a:rPr>
              <a:t>Capa 3 · Datos Micro del Mercado (Tool X)</a:t>
            </a:r>
            <a:endParaRPr lang="en-US" sz="2850" dirty="0"/>
          </a:p>
        </p:txBody>
      </p:sp>
      <p:sp>
        <p:nvSpPr>
          <p:cNvPr id="12" name="Text 10"/>
          <p:cNvSpPr/>
          <p:nvPr/>
        </p:nvSpPr>
        <p:spPr>
          <a:xfrm>
            <a:off x="6705600" y="4155728"/>
            <a:ext cx="12070080" cy="352425"/>
          </a:xfrm>
          <a:prstGeom prst="rect">
            <a:avLst/>
          </a:prstGeom>
          <a:noFill/>
          <a:ln/>
        </p:spPr>
        <p:txBody>
          <a:bodyPr wrap="square" lIns="25400" tIns="25400" rIns="25400" bIns="25400" rtlCol="0" anchor="t">
            <a:normAutofit/>
          </a:bodyPr>
          <a:lstStyle/>
          <a:p>
            <a:pPr algn="l" indent="0" marL="0">
              <a:lnSpc>
                <a:spcPct val="126923"/>
              </a:lnSpc>
              <a:buNone/>
            </a:pPr>
            <a:r>
              <a:rPr lang="en-US" sz="1650" dirty="0">
                <a:solidFill>
                  <a:srgbClr val="FFFFFF">
                    <a:alpha val="85000"/>
                  </a:srgbClr>
                </a:solidFill>
                <a:latin typeface="Arial" pitchFamily="34" charset="0"/>
                <a:ea typeface="Arial" pitchFamily="34" charset="-122"/>
                <a:cs typeface="Arial" pitchFamily="34" charset="-120"/>
              </a:rPr>
              <a:t>Performance de campañas e inversión digital por anunciante.</a:t>
            </a:r>
            <a:endParaRPr lang="en-US" sz="1650" dirty="0"/>
          </a:p>
        </p:txBody>
      </p:sp>
      <p:sp>
        <p:nvSpPr>
          <p:cNvPr id="13" name="Shape 11"/>
          <p:cNvSpPr/>
          <p:nvPr/>
        </p:nvSpPr>
        <p:spPr>
          <a:xfrm>
            <a:off x="6705600" y="4774853"/>
            <a:ext cx="10972800" cy="2276326"/>
          </a:xfrm>
          <a:prstGeom prst="roundRect">
            <a:avLst>
              <a:gd name="adj" fmla="val 3347"/>
            </a:avLst>
          </a:prstGeom>
          <a:solidFill>
            <a:srgbClr val="FFFFFF">
              <a:alpha val="6000"/>
            </a:srgbClr>
          </a:solidFill>
          <a:ln/>
        </p:spPr>
        <p:txBody>
          <a:bodyPr/>
          <a:p/>
        </p:txBody>
      </p:sp>
      <p:sp>
        <p:nvSpPr>
          <p:cNvPr id="14" name="Shape 12"/>
          <p:cNvSpPr/>
          <p:nvPr/>
        </p:nvSpPr>
        <p:spPr>
          <a:xfrm>
            <a:off x="6705600" y="4774853"/>
            <a:ext cx="57150" cy="2276326"/>
          </a:xfrm>
          <a:prstGeom prst="rect">
            <a:avLst/>
          </a:prstGeom>
          <a:solidFill>
            <a:srgbClr val="66AC97"/>
          </a:solidFill>
          <a:ln/>
        </p:spPr>
        <p:txBody>
          <a:bodyPr/>
          <a:p/>
        </p:txBody>
      </p:sp>
      <p:sp>
        <p:nvSpPr>
          <p:cNvPr id="15" name="Text 13"/>
          <p:cNvSpPr/>
          <p:nvPr/>
        </p:nvSpPr>
        <p:spPr>
          <a:xfrm>
            <a:off x="7105650" y="5079653"/>
            <a:ext cx="10536746" cy="1704826"/>
          </a:xfrm>
          <a:prstGeom prst="rect">
            <a:avLst/>
          </a:prstGeom>
          <a:noFill/>
          <a:ln/>
        </p:spPr>
        <p:txBody>
          <a:bodyPr wrap="square" lIns="25400" tIns="25400" rIns="25400" bIns="25400" rtlCol="0" anchor="t">
            <a:normAutofit/>
          </a:bodyPr>
          <a:lstStyle/>
          <a:p>
            <a:pPr algn="l" indent="0" marL="0">
              <a:lnSpc>
                <a:spcPct val="124286"/>
              </a:lnSpc>
              <a:buNone/>
            </a:pPr>
            <a:r>
              <a:rPr lang="en-US" sz="1800" dirty="0">
                <a:solidFill>
                  <a:srgbClr val="FFFFFF">
                    <a:alpha val="90000"/>
                  </a:srgbClr>
                </a:solidFill>
                <a:latin typeface="Arial" pitchFamily="34" charset="0"/>
                <a:ea typeface="Arial" pitchFamily="34" charset="-122"/>
                <a:cs typeface="Arial" pitchFamily="34" charset="-120"/>
              </a:rPr>
              <a:t>El camino a Tool X empieza con una pregunta: </a:t>
            </a:r>
            <a:pPr algn="l" indent="0" marL="0">
              <a:lnSpc>
                <a:spcPct val="124286"/>
              </a:lnSpc>
              <a:buNone/>
            </a:pPr>
            <a:r>
              <a:rPr lang="en-US" sz="1800" b="1" dirty="0">
                <a:solidFill>
                  <a:srgbClr val="FFFFFF"/>
                </a:solidFill>
                <a:latin typeface="Arial" pitchFamily="34" charset="0"/>
                <a:ea typeface="Arial" pitchFamily="34" charset="-122"/>
                <a:cs typeface="Arial" pitchFamily="34" charset="-120"/>
              </a:rPr>
              <a:t>¿de dónde vienen los datos y cómo se unifican? </a:t>
            </a:r>
            <a:pPr algn="l" indent="0" marL="0">
              <a:lnSpc>
                <a:spcPct val="124286"/>
              </a:lnSpc>
              <a:buNone/>
            </a:pPr>
            <a:r>
              <a:rPr lang="en-US" sz="1800" dirty="0">
                <a:solidFill>
                  <a:srgbClr val="FFFFFF">
                    <a:alpha val="90000"/>
                  </a:srgbClr>
                </a:solidFill>
                <a:latin typeface="Arial" pitchFamily="34" charset="0"/>
                <a:ea typeface="Arial" pitchFamily="34" charset="-122"/>
                <a:cs typeface="Arial" pitchFamily="34" charset="-120"/>
              </a:rPr>
              <a:t>Ya tuvimos una primera aproximación con Ariel que dejó claro que las fuentes son múltiples y que la recolección es el desafío central. Antes de escribir una sola línea de código, necesitamos responder eso. La próxima etapa es una sesión de trabajo con los encargados del proyecto para mapear las fuentes disponibles, definir cómo se cruzan y establecer dónde viven los datos.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2026-07-10T12:44:48Z</dcterms:created>
  <dcterms:modified xsi:type="dcterms:W3CDTF">2026-07-10T12:44:48Z</dcterms:modified>
</cp:coreProperties>
</file>